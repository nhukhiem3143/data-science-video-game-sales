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78" r:id="rId2"/>
    <p:sldId id="257" r:id="rId3"/>
    <p:sldId id="259" r:id="rId4"/>
    <p:sldId id="282" r:id="rId5"/>
    <p:sldId id="262" r:id="rId6"/>
    <p:sldId id="264" r:id="rId7"/>
    <p:sldId id="280" r:id="rId8"/>
    <p:sldId id="267" r:id="rId9"/>
    <p:sldId id="269" r:id="rId10"/>
    <p:sldId id="270" r:id="rId11"/>
    <p:sldId id="272" r:id="rId12"/>
    <p:sldId id="273" r:id="rId13"/>
    <p:sldId id="274" r:id="rId14"/>
    <p:sldId id="276" r:id="rId15"/>
    <p:sldId id="279"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Kiểu Có chủ đề 1 - Màu chủ đề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C2FFA5D-87B4-456A-9821-1D502468CF0F}" styleName="Kiểu Có chủ đề 1 - Màu chủ đề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Kiểu Có chủ đề 1 - Màu chủ đề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5758FB7-9AC5-4552-8A53-C91805E547FA}" styleName="Kiểu Có chủ đề 1 - Màu chủ đề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Kiểu Có chủ đề 1 - Màu chủ đề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Kiểu Có chủ đề 1 - Màu chủ đề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0" autoAdjust="0"/>
  </p:normalViewPr>
  <p:slideViewPr>
    <p:cSldViewPr snapToGrid="0" snapToObjects="1">
      <p:cViewPr varScale="1">
        <p:scale>
          <a:sx n="96" d="100"/>
          <a:sy n="96" d="100"/>
        </p:scale>
        <p:origin x="24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3887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54FAA-5E12-7DB6-A839-C25C9013B9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A43E2F-B664-DBA8-59ED-C116380C38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C67DCB-765A-96E8-1BFD-05D7C57A31FA}"/>
              </a:ext>
            </a:extLst>
          </p:cNvPr>
          <p:cNvSpPr>
            <a:spLocks noGrp="1"/>
          </p:cNvSpPr>
          <p:nvPr>
            <p:ph type="body" idx="1"/>
          </p:nvPr>
        </p:nvSpPr>
        <p:spPr/>
        <p:txBody>
          <a:bodyPr/>
          <a:lstStyle/>
          <a:p>
            <a:r>
              <a:rPr lang="en-US" dirty="0"/>
              <a:t>Slide 1 — Bìa: Giới thiệu đề tài, sinh viên và GVHD.</a:t>
            </a:r>
          </a:p>
        </p:txBody>
      </p:sp>
      <p:sp>
        <p:nvSpPr>
          <p:cNvPr id="4" name="Slide Number Placeholder 3">
            <a:extLst>
              <a:ext uri="{FF2B5EF4-FFF2-40B4-BE49-F238E27FC236}">
                <a16:creationId xmlns:a16="http://schemas.microsoft.com/office/drawing/2014/main" id="{EA3A1C65-D48C-78F2-2B1E-AD67BF5A9D4A}"/>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7162571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060C5-9711-6CFE-0CEE-21EC2D0BEC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776214-723E-94E1-CFE5-9D91AE646D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15923D-6EFB-53F7-5489-3C6F1C15EC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2829F3-8615-FB59-FC07-83B25B4013A5}"/>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9341321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B4A33-FCCF-9C24-9A54-C03114BEED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AE0E46-820F-B38A-B415-12E911DDCF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C0A748-7447-71B6-3CFD-4A4CBB804C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6B2A90-5A5C-E20A-4535-743110F7AC6B}"/>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174902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85598-6044-FF58-50C0-EA3923CD112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E8A163D-1C3F-4C26-8996-70192C1CD8E5}"/>
              </a:ext>
            </a:extLst>
          </p:cNvPr>
          <p:cNvSpPr/>
          <p:nvPr/>
        </p:nvSpPr>
        <p:spPr>
          <a:xfrm>
            <a:off x="6858000" y="-1097280"/>
            <a:ext cx="3657600" cy="3657600"/>
          </a:xfrm>
          <a:prstGeom prst="ellipse">
            <a:avLst/>
          </a:prstGeom>
          <a:solidFill>
            <a:srgbClr val="00B0F0">
              <a:alpha val="30000"/>
            </a:srgbClr>
          </a:solidFill>
          <a:ln w="12700">
            <a:solidFill>
              <a:srgbClr val="2D6A9F">
                <a:alpha val="30000"/>
              </a:srgbClr>
            </a:solidFill>
            <a:prstDash val="solid"/>
          </a:ln>
        </p:spPr>
        <p:txBody>
          <a:bodyPr/>
          <a:lstStyle/>
          <a:p>
            <a:endParaRPr lang="vi-VN"/>
          </a:p>
        </p:txBody>
      </p:sp>
      <p:sp>
        <p:nvSpPr>
          <p:cNvPr id="3" name="Shape 1">
            <a:extLst>
              <a:ext uri="{FF2B5EF4-FFF2-40B4-BE49-F238E27FC236}">
                <a16:creationId xmlns:a16="http://schemas.microsoft.com/office/drawing/2014/main" id="{C79B1A56-6F4B-0A09-44E7-7C0D69CA18C6}"/>
              </a:ext>
            </a:extLst>
          </p:cNvPr>
          <p:cNvSpPr/>
          <p:nvPr/>
        </p:nvSpPr>
        <p:spPr>
          <a:xfrm>
            <a:off x="7772400" y="-274320"/>
            <a:ext cx="2011680" cy="2011680"/>
          </a:xfrm>
          <a:prstGeom prst="ellipse">
            <a:avLst/>
          </a:prstGeom>
          <a:solidFill>
            <a:srgbClr val="FF0000">
              <a:alpha val="40000"/>
            </a:srgbClr>
          </a:solidFill>
          <a:ln w="12700">
            <a:solidFill>
              <a:srgbClr val="E8543A">
                <a:alpha val="40000"/>
              </a:srgbClr>
            </a:solidFill>
            <a:prstDash val="solid"/>
          </a:ln>
        </p:spPr>
      </p:sp>
      <p:sp>
        <p:nvSpPr>
          <p:cNvPr id="4" name="Text 2">
            <a:extLst>
              <a:ext uri="{FF2B5EF4-FFF2-40B4-BE49-F238E27FC236}">
                <a16:creationId xmlns:a16="http://schemas.microsoft.com/office/drawing/2014/main" id="{79D7C93B-6859-406B-CBF9-EA8A6FE42F2E}"/>
              </a:ext>
            </a:extLst>
          </p:cNvPr>
          <p:cNvSpPr/>
          <p:nvPr/>
        </p:nvSpPr>
        <p:spPr>
          <a:xfrm>
            <a:off x="2286000" y="274320"/>
            <a:ext cx="914400" cy="731520"/>
          </a:xfrm>
          <a:prstGeom prst="rect">
            <a:avLst/>
          </a:prstGeom>
          <a:noFill/>
          <a:ln/>
        </p:spPr>
        <p:txBody>
          <a:bodyPr wrap="square" rtlCol="0" anchor="ctr"/>
          <a:lstStyle/>
          <a:p>
            <a:pPr marL="0" indent="0" algn="ctr">
              <a:lnSpc>
                <a:spcPct val="150000"/>
              </a:lnSpc>
              <a:buNone/>
            </a:pPr>
            <a:r>
              <a:rPr lang="en-US" sz="3600" dirty="0">
                <a:solidFill>
                  <a:srgbClr val="000000"/>
                </a:solidFill>
              </a:rPr>
              <a:t>🎮</a:t>
            </a:r>
            <a:endParaRPr lang="en-US" sz="3600" dirty="0"/>
          </a:p>
        </p:txBody>
      </p:sp>
      <p:sp>
        <p:nvSpPr>
          <p:cNvPr id="5" name="Text 3">
            <a:extLst>
              <a:ext uri="{FF2B5EF4-FFF2-40B4-BE49-F238E27FC236}">
                <a16:creationId xmlns:a16="http://schemas.microsoft.com/office/drawing/2014/main" id="{C12FA258-CEE7-B29D-CABF-D88016A1DFED}"/>
              </a:ext>
            </a:extLst>
          </p:cNvPr>
          <p:cNvSpPr/>
          <p:nvPr/>
        </p:nvSpPr>
        <p:spPr>
          <a:xfrm>
            <a:off x="457200" y="502920"/>
            <a:ext cx="8229600" cy="411480"/>
          </a:xfrm>
          <a:prstGeom prst="rect">
            <a:avLst/>
          </a:prstGeom>
          <a:noFill/>
          <a:ln/>
        </p:spPr>
        <p:txBody>
          <a:bodyPr wrap="square" rtlCol="0" anchor="ctr"/>
          <a:lstStyle/>
          <a:p>
            <a:pPr marL="0" indent="0" algn="ctr">
              <a:lnSpc>
                <a:spcPct val="150000"/>
              </a:lnSpc>
              <a:buNone/>
            </a:pPr>
            <a:r>
              <a:rPr lang="en-US" sz="1300" kern="0" spc="500">
                <a:solidFill>
                  <a:schemeClr val="accent2"/>
                </a:solidFill>
              </a:rPr>
              <a:t>KHOA HỌC DỮ LIỆU</a:t>
            </a:r>
            <a:endParaRPr lang="en-US" sz="1300" dirty="0">
              <a:solidFill>
                <a:schemeClr val="accent2"/>
              </a:solidFill>
            </a:endParaRPr>
          </a:p>
        </p:txBody>
      </p:sp>
      <p:sp>
        <p:nvSpPr>
          <p:cNvPr id="6" name="Text 4">
            <a:extLst>
              <a:ext uri="{FF2B5EF4-FFF2-40B4-BE49-F238E27FC236}">
                <a16:creationId xmlns:a16="http://schemas.microsoft.com/office/drawing/2014/main" id="{A04D44BF-6587-6147-2EB3-E1B19AEAEFC7}"/>
              </a:ext>
            </a:extLst>
          </p:cNvPr>
          <p:cNvSpPr/>
          <p:nvPr/>
        </p:nvSpPr>
        <p:spPr>
          <a:xfrm>
            <a:off x="685800" y="1028700"/>
            <a:ext cx="7772400" cy="1645920"/>
          </a:xfrm>
          <a:prstGeom prst="rect">
            <a:avLst/>
          </a:prstGeom>
          <a:noFill/>
          <a:ln/>
        </p:spPr>
        <p:txBody>
          <a:bodyPr wrap="square" rtlCol="0" anchor="ctr"/>
          <a:lstStyle/>
          <a:p>
            <a:pPr marL="0" indent="0" algn="ctr">
              <a:lnSpc>
                <a:spcPct val="150000"/>
              </a:lnSpc>
              <a:buNone/>
            </a:pPr>
            <a:r>
              <a:rPr lang="en-US" sz="3800" b="1" dirty="0">
                <a:solidFill>
                  <a:srgbClr val="FF0000"/>
                </a:solidFill>
                <a:latin typeface="Calibri" pitchFamily="34" charset="0"/>
                <a:ea typeface="Calibri" pitchFamily="34" charset="-122"/>
                <a:cs typeface="Calibri" pitchFamily="34" charset="-120"/>
              </a:rPr>
              <a:t>Phân Tích Xu Hướng Thị Trường</a:t>
            </a:r>
            <a:endParaRPr lang="en-US" sz="3800" dirty="0">
              <a:solidFill>
                <a:srgbClr val="FF0000"/>
              </a:solidFill>
            </a:endParaRPr>
          </a:p>
          <a:p>
            <a:pPr marL="0" indent="0" algn="ctr">
              <a:lnSpc>
                <a:spcPct val="150000"/>
              </a:lnSpc>
              <a:buNone/>
            </a:pPr>
            <a:r>
              <a:rPr lang="en-US" sz="3800" b="1" dirty="0">
                <a:solidFill>
                  <a:srgbClr val="FF0000"/>
                </a:solidFill>
                <a:latin typeface="Calibri" pitchFamily="34" charset="0"/>
                <a:ea typeface="Calibri" pitchFamily="34" charset="-122"/>
                <a:cs typeface="Calibri" pitchFamily="34" charset="-120"/>
              </a:rPr>
              <a:t>Trò Chơi Điện Tử</a:t>
            </a:r>
            <a:endParaRPr lang="en-US" sz="3800" dirty="0">
              <a:solidFill>
                <a:srgbClr val="FF0000"/>
              </a:solidFill>
            </a:endParaRPr>
          </a:p>
        </p:txBody>
      </p:sp>
      <p:sp>
        <p:nvSpPr>
          <p:cNvPr id="7" name="Text 5">
            <a:extLst>
              <a:ext uri="{FF2B5EF4-FFF2-40B4-BE49-F238E27FC236}">
                <a16:creationId xmlns:a16="http://schemas.microsoft.com/office/drawing/2014/main" id="{C88D47E8-AB94-5520-AD12-8AC607CEE9E5}"/>
              </a:ext>
            </a:extLst>
          </p:cNvPr>
          <p:cNvSpPr/>
          <p:nvPr/>
        </p:nvSpPr>
        <p:spPr>
          <a:xfrm>
            <a:off x="685800" y="2599182"/>
            <a:ext cx="7772400" cy="502920"/>
          </a:xfrm>
          <a:prstGeom prst="rect">
            <a:avLst/>
          </a:prstGeom>
          <a:noFill/>
          <a:ln/>
        </p:spPr>
        <p:txBody>
          <a:bodyPr wrap="square" rtlCol="0" anchor="ctr"/>
          <a:lstStyle/>
          <a:p>
            <a:pPr marL="0" indent="0" algn="ctr">
              <a:lnSpc>
                <a:spcPct val="150000"/>
              </a:lnSpc>
              <a:buNone/>
            </a:pPr>
            <a:r>
              <a:rPr lang="en-US" sz="2000" dirty="0">
                <a:solidFill>
                  <a:schemeClr val="accent2"/>
                </a:solidFill>
              </a:rPr>
              <a:t>&amp; Dự Đoán Doanh Số Bán Hàng Toàn Cầu</a:t>
            </a:r>
          </a:p>
        </p:txBody>
      </p:sp>
      <p:sp>
        <p:nvSpPr>
          <p:cNvPr id="8" name="Shape 6">
            <a:extLst>
              <a:ext uri="{FF2B5EF4-FFF2-40B4-BE49-F238E27FC236}">
                <a16:creationId xmlns:a16="http://schemas.microsoft.com/office/drawing/2014/main" id="{0BD4F93C-0A30-01DB-3680-3907A3DED332}"/>
              </a:ext>
            </a:extLst>
          </p:cNvPr>
          <p:cNvSpPr/>
          <p:nvPr/>
        </p:nvSpPr>
        <p:spPr>
          <a:xfrm>
            <a:off x="2743200" y="3255264"/>
            <a:ext cx="3657600" cy="36576"/>
          </a:xfrm>
          <a:prstGeom prst="rect">
            <a:avLst/>
          </a:prstGeom>
          <a:solidFill>
            <a:srgbClr val="E8543A"/>
          </a:solidFill>
          <a:ln w="12700">
            <a:solidFill>
              <a:srgbClr val="E8543A"/>
            </a:solidFill>
            <a:prstDash val="solid"/>
          </a:ln>
        </p:spPr>
      </p:sp>
      <p:sp>
        <p:nvSpPr>
          <p:cNvPr id="9" name="Text 7">
            <a:extLst>
              <a:ext uri="{FF2B5EF4-FFF2-40B4-BE49-F238E27FC236}">
                <a16:creationId xmlns:a16="http://schemas.microsoft.com/office/drawing/2014/main" id="{9CC31979-161C-7452-C907-38AE064C029E}"/>
              </a:ext>
            </a:extLst>
          </p:cNvPr>
          <p:cNvSpPr/>
          <p:nvPr/>
        </p:nvSpPr>
        <p:spPr>
          <a:xfrm>
            <a:off x="2217420" y="3609212"/>
            <a:ext cx="5554980" cy="685800"/>
          </a:xfrm>
          <a:prstGeom prst="rect">
            <a:avLst/>
          </a:prstGeom>
          <a:noFill/>
          <a:ln/>
        </p:spPr>
        <p:txBody>
          <a:bodyPr wrap="square" rtlCol="0" anchor="ctr"/>
          <a:lstStyle/>
          <a:p>
            <a:pPr marL="0" indent="0" algn="just">
              <a:lnSpc>
                <a:spcPct val="150000"/>
              </a:lnSpc>
              <a:buNone/>
            </a:pPr>
            <a:r>
              <a:rPr lang="en-US" sz="1600" b="1" dirty="0">
                <a:solidFill>
                  <a:srgbClr val="F5A623"/>
                </a:solidFill>
              </a:rPr>
              <a:t>Sinh viên : </a:t>
            </a:r>
            <a:r>
              <a:rPr lang="en-US" sz="1600" dirty="0"/>
              <a:t>Nguyễn Như </a:t>
            </a:r>
            <a:r>
              <a:rPr lang="en-US" sz="1600"/>
              <a:t>Khiêm - MSSV : K225480106030</a:t>
            </a:r>
          </a:p>
          <a:p>
            <a:pPr algn="just">
              <a:lnSpc>
                <a:spcPct val="150000"/>
              </a:lnSpc>
            </a:pPr>
            <a:r>
              <a:rPr lang="en-US" sz="1600" b="1">
                <a:solidFill>
                  <a:srgbClr val="F5A623"/>
                </a:solidFill>
              </a:rPr>
              <a:t>GVHD : </a:t>
            </a:r>
            <a:r>
              <a:rPr lang="en-US" sz="1600"/>
              <a:t>TS. Nguyễn Văn Huy</a:t>
            </a:r>
          </a:p>
          <a:p>
            <a:pPr marL="0" indent="0" algn="ctr">
              <a:lnSpc>
                <a:spcPct val="150000"/>
              </a:lnSpc>
              <a:buNone/>
            </a:pPr>
            <a:endParaRPr lang="en-US" sz="1600" dirty="0"/>
          </a:p>
        </p:txBody>
      </p:sp>
      <p:sp>
        <p:nvSpPr>
          <p:cNvPr id="12" name="Hộp Văn bản 11">
            <a:extLst>
              <a:ext uri="{FF2B5EF4-FFF2-40B4-BE49-F238E27FC236}">
                <a16:creationId xmlns:a16="http://schemas.microsoft.com/office/drawing/2014/main" id="{93F333C5-8F31-B5C4-C53B-641059FD6AF9}"/>
              </a:ext>
            </a:extLst>
          </p:cNvPr>
          <p:cNvSpPr txBox="1"/>
          <p:nvPr/>
        </p:nvSpPr>
        <p:spPr>
          <a:xfrm>
            <a:off x="1941195" y="4461660"/>
            <a:ext cx="5261610" cy="421847"/>
          </a:xfrm>
          <a:prstGeom prst="rect">
            <a:avLst/>
          </a:prstGeom>
          <a:noFill/>
        </p:spPr>
        <p:txBody>
          <a:bodyPr wrap="square">
            <a:spAutoFit/>
          </a:bodyPr>
          <a:lstStyle/>
          <a:p>
            <a:pPr algn="ctr">
              <a:lnSpc>
                <a:spcPct val="150000"/>
              </a:lnSpc>
            </a:pPr>
            <a:r>
              <a:rPr lang="en-US" sz="1600">
                <a:solidFill>
                  <a:srgbClr val="0070C0"/>
                </a:solidFill>
              </a:rPr>
              <a:t>Bộ dữ liệu : Video Game Sales</a:t>
            </a:r>
            <a:endParaRPr lang="vi-VN" sz="1600">
              <a:solidFill>
                <a:srgbClr val="0070C0"/>
              </a:solidFill>
            </a:endParaRPr>
          </a:p>
        </p:txBody>
      </p:sp>
      <p:sp>
        <p:nvSpPr>
          <p:cNvPr id="10" name="Shape 1">
            <a:extLst>
              <a:ext uri="{FF2B5EF4-FFF2-40B4-BE49-F238E27FC236}">
                <a16:creationId xmlns:a16="http://schemas.microsoft.com/office/drawing/2014/main" id="{DD13636D-C370-B856-2F7B-98299962AB21}"/>
              </a:ext>
            </a:extLst>
          </p:cNvPr>
          <p:cNvSpPr/>
          <p:nvPr/>
        </p:nvSpPr>
        <p:spPr>
          <a:xfrm>
            <a:off x="-467360" y="3555342"/>
            <a:ext cx="2011680" cy="2011680"/>
          </a:xfrm>
          <a:prstGeom prst="ellipse">
            <a:avLst/>
          </a:prstGeom>
          <a:solidFill>
            <a:srgbClr val="00B050">
              <a:alpha val="40000"/>
            </a:srgbClr>
          </a:solidFill>
          <a:ln w="12700">
            <a:solidFill>
              <a:srgbClr val="E8543A">
                <a:alpha val="40000"/>
              </a:srgbClr>
            </a:solidFill>
            <a:prstDash val="solid"/>
          </a:ln>
        </p:spPr>
      </p:sp>
    </p:spTree>
    <p:extLst>
      <p:ext uri="{BB962C8B-B14F-4D97-AF65-F5344CB8AC3E}">
        <p14:creationId xmlns:p14="http://schemas.microsoft.com/office/powerpoint/2010/main" val="3899465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30352"/>
          </a:xfrm>
          <a:prstGeom prst="rect">
            <a:avLst/>
          </a:prstGeom>
          <a:noFill/>
          <a:ln/>
        </p:spPr>
        <p:txBody>
          <a:bodyPr wrap="square" rtlCol="0" anchor="ctr"/>
          <a:lstStyle/>
          <a:p>
            <a:pPr marL="0" indent="0">
              <a:lnSpc>
                <a:spcPct val="150000"/>
              </a:lnSpc>
              <a:buNone/>
            </a:pPr>
            <a:r>
              <a:rPr lang="en-US" sz="2400" b="1" dirty="0">
                <a:solidFill>
                  <a:srgbClr val="1A2C5B"/>
                </a:solidFill>
                <a:latin typeface="Arial" pitchFamily="34" charset="0"/>
                <a:ea typeface="Arial" pitchFamily="34" charset="-122"/>
                <a:cs typeface="Arial" pitchFamily="34" charset="-120"/>
              </a:rPr>
              <a:t>GIỚI THIỆU &amp; TÍNH CẤP THIẾT ĐỀ TÀI</a:t>
            </a:r>
            <a:endParaRPr lang="en-US" sz="2400" dirty="0"/>
          </a:p>
        </p:txBody>
      </p:sp>
      <p:sp>
        <p:nvSpPr>
          <p:cNvPr id="3" name="Shape 1"/>
          <p:cNvSpPr/>
          <p:nvPr/>
        </p:nvSpPr>
        <p:spPr>
          <a:xfrm>
            <a:off x="320040" y="914400"/>
            <a:ext cx="4251960" cy="3566160"/>
          </a:xfrm>
          <a:prstGeom prst="roundRect">
            <a:avLst>
              <a:gd name="adj" fmla="val 2564"/>
            </a:avLst>
          </a:prstGeom>
          <a:solidFill>
            <a:srgbClr val="FFFFFF"/>
          </a:solidFill>
          <a:ln/>
          <a:effectLst>
            <a:outerShdw blurRad="101600" dist="38100" dir="2700000" algn="bl" rotWithShape="0">
              <a:srgbClr val="000000">
                <a:alpha val="12000"/>
              </a:srgbClr>
            </a:outerShdw>
          </a:effectLst>
        </p:spPr>
      </p:sp>
      <p:sp>
        <p:nvSpPr>
          <p:cNvPr id="4" name="Shape 2"/>
          <p:cNvSpPr/>
          <p:nvPr/>
        </p:nvSpPr>
        <p:spPr>
          <a:xfrm>
            <a:off x="320040" y="914400"/>
            <a:ext cx="4251960" cy="384048"/>
          </a:xfrm>
          <a:prstGeom prst="rect">
            <a:avLst/>
          </a:prstGeom>
          <a:solidFill>
            <a:srgbClr val="2D6A9F"/>
          </a:solidFill>
          <a:ln/>
        </p:spPr>
      </p:sp>
      <p:sp>
        <p:nvSpPr>
          <p:cNvPr id="5" name="Text 3"/>
          <p:cNvSpPr/>
          <p:nvPr/>
        </p:nvSpPr>
        <p:spPr>
          <a:xfrm>
            <a:off x="457200" y="950976"/>
            <a:ext cx="4023360" cy="310896"/>
          </a:xfrm>
          <a:prstGeom prst="rect">
            <a:avLst/>
          </a:prstGeom>
          <a:noFill/>
          <a:ln/>
        </p:spPr>
        <p:txBody>
          <a:bodyPr wrap="square" rtlCol="0" anchor="ctr"/>
          <a:lstStyle/>
          <a:p>
            <a:pPr marL="0" indent="0">
              <a:lnSpc>
                <a:spcPct val="150000"/>
              </a:lnSpc>
              <a:buNone/>
            </a:pPr>
            <a:r>
              <a:rPr lang="en-US" sz="1300" b="1" dirty="0">
                <a:solidFill>
                  <a:srgbClr val="FFFFFF"/>
                </a:solidFill>
                <a:latin typeface="Arial" pitchFamily="34" charset="0"/>
                <a:ea typeface="Arial" pitchFamily="34" charset="-122"/>
                <a:cs typeface="Arial" pitchFamily="34" charset="-120"/>
              </a:rPr>
              <a:t>🌐  Bối Cảnh Ngành</a:t>
            </a:r>
            <a:endParaRPr lang="en-US" sz="1300" dirty="0"/>
          </a:p>
        </p:txBody>
      </p:sp>
      <p:sp>
        <p:nvSpPr>
          <p:cNvPr id="6" name="Text 4"/>
          <p:cNvSpPr/>
          <p:nvPr/>
        </p:nvSpPr>
        <p:spPr>
          <a:xfrm>
            <a:off x="457200" y="1417320"/>
            <a:ext cx="3931920" cy="1746504"/>
          </a:xfrm>
          <a:prstGeom prst="rect">
            <a:avLst/>
          </a:prstGeom>
          <a:noFill/>
          <a:ln/>
        </p:spPr>
        <p:txBody>
          <a:bodyPr wrap="square" rtlCol="0" anchor="t"/>
          <a:lstStyle/>
          <a:p>
            <a:pPr marL="0" indent="0" algn="l">
              <a:lnSpc>
                <a:spcPct val="150000"/>
              </a:lnSpc>
              <a:buNone/>
            </a:pPr>
            <a:r>
              <a:rPr lang="vi-VN" sz="1100">
                <a:solidFill>
                  <a:srgbClr val="333333"/>
                </a:solidFill>
                <a:latin typeface="Arial" pitchFamily="34" charset="0"/>
                <a:ea typeface="Arial" pitchFamily="34" charset="-122"/>
                <a:cs typeface="Arial" pitchFamily="34" charset="-120"/>
              </a:rPr>
              <a:t>Ngành công nghiệp trò chơi điện tử là một trong những lĩnh vực giải trí có tốc độ phát triển thần tốc, với doanh thu toàn cầu đạt hàng trăm tỷ USD mỗi năm.</a:t>
            </a:r>
          </a:p>
          <a:p>
            <a:pPr marL="0" indent="0" algn="l">
              <a:lnSpc>
                <a:spcPct val="150000"/>
              </a:lnSpc>
              <a:buNone/>
            </a:pPr>
            <a:r>
              <a:rPr lang="vi-VN" sz="1100">
                <a:solidFill>
                  <a:srgbClr val="333333"/>
                </a:solidFill>
                <a:latin typeface="Arial" pitchFamily="34" charset="0"/>
                <a:ea typeface="Arial" pitchFamily="34" charset="-122"/>
                <a:cs typeface="Arial" pitchFamily="34" charset="-120"/>
              </a:rPr>
              <a:t>Sự cạnh tranh khốc liệt đòi hỏi các nhà phát triển phải khai phá tri thức lịch sử và dự báo xu hướng để giảm thiểu tối đa rủi ro đầu tư khổng lồ.</a:t>
            </a:r>
            <a:endParaRPr lang="en-US" sz="1100" dirty="0"/>
          </a:p>
        </p:txBody>
      </p:sp>
      <p:sp>
        <p:nvSpPr>
          <p:cNvPr id="8" name="Shape 6"/>
          <p:cNvSpPr/>
          <p:nvPr/>
        </p:nvSpPr>
        <p:spPr>
          <a:xfrm>
            <a:off x="457200" y="3200400"/>
            <a:ext cx="1737360" cy="1097280"/>
          </a:xfrm>
          <a:prstGeom prst="roundRect">
            <a:avLst>
              <a:gd name="adj" fmla="val 6667"/>
            </a:avLst>
          </a:prstGeom>
          <a:solidFill>
            <a:srgbClr val="7030A0"/>
          </a:solidFill>
          <a:ln/>
        </p:spPr>
      </p:sp>
      <p:sp>
        <p:nvSpPr>
          <p:cNvPr id="9" name="Text 7"/>
          <p:cNvSpPr/>
          <p:nvPr/>
        </p:nvSpPr>
        <p:spPr>
          <a:xfrm>
            <a:off x="457200" y="3273552"/>
            <a:ext cx="1737360" cy="475488"/>
          </a:xfrm>
          <a:prstGeom prst="rect">
            <a:avLst/>
          </a:prstGeom>
          <a:noFill/>
          <a:ln/>
        </p:spPr>
        <p:txBody>
          <a:bodyPr wrap="square" rtlCol="0" anchor="ctr"/>
          <a:lstStyle/>
          <a:p>
            <a:pPr marL="0" indent="0" algn="ctr">
              <a:lnSpc>
                <a:spcPct val="150000"/>
              </a:lnSpc>
              <a:buNone/>
            </a:pPr>
            <a:r>
              <a:rPr lang="en-US" sz="2200" b="1" dirty="0">
                <a:solidFill>
                  <a:srgbClr val="F5A623"/>
                </a:solidFill>
                <a:latin typeface="Arial" pitchFamily="34" charset="0"/>
                <a:ea typeface="Arial" pitchFamily="34" charset="-122"/>
                <a:cs typeface="Arial" pitchFamily="34" charset="-120"/>
              </a:rPr>
              <a:t>$200B+</a:t>
            </a:r>
            <a:endParaRPr lang="en-US" sz="2200" dirty="0"/>
          </a:p>
        </p:txBody>
      </p:sp>
      <p:sp>
        <p:nvSpPr>
          <p:cNvPr id="10" name="Text 8"/>
          <p:cNvSpPr/>
          <p:nvPr/>
        </p:nvSpPr>
        <p:spPr>
          <a:xfrm>
            <a:off x="457200" y="3730752"/>
            <a:ext cx="1737360" cy="457200"/>
          </a:xfrm>
          <a:prstGeom prst="rect">
            <a:avLst/>
          </a:prstGeom>
          <a:noFill/>
          <a:ln/>
        </p:spPr>
        <p:txBody>
          <a:bodyPr wrap="square" rtlCol="0" anchor="ctr"/>
          <a:lstStyle/>
          <a:p>
            <a:pPr marL="0" indent="0" algn="ctr">
              <a:lnSpc>
                <a:spcPct val="150000"/>
              </a:lnSpc>
              <a:buNone/>
            </a:pPr>
            <a:r>
              <a:rPr lang="en-US" sz="900" dirty="0">
                <a:solidFill>
                  <a:srgbClr val="D9E8F5"/>
                </a:solidFill>
                <a:latin typeface="Arial" pitchFamily="34" charset="0"/>
                <a:ea typeface="Arial" pitchFamily="34" charset="-122"/>
                <a:cs typeface="Arial" pitchFamily="34" charset="-120"/>
              </a:rPr>
              <a:t>Doanh thu ngành 2023</a:t>
            </a:r>
            <a:endParaRPr lang="en-US" sz="900" dirty="0"/>
          </a:p>
        </p:txBody>
      </p:sp>
      <p:sp>
        <p:nvSpPr>
          <p:cNvPr id="11" name="Shape 9"/>
          <p:cNvSpPr/>
          <p:nvPr/>
        </p:nvSpPr>
        <p:spPr>
          <a:xfrm>
            <a:off x="2377440" y="3200400"/>
            <a:ext cx="2011680" cy="1097280"/>
          </a:xfrm>
          <a:prstGeom prst="roundRect">
            <a:avLst>
              <a:gd name="adj" fmla="val 6667"/>
            </a:avLst>
          </a:prstGeom>
          <a:solidFill>
            <a:srgbClr val="7030A0"/>
          </a:solidFill>
          <a:ln/>
        </p:spPr>
      </p:sp>
      <p:sp>
        <p:nvSpPr>
          <p:cNvPr id="12" name="Text 10"/>
          <p:cNvSpPr/>
          <p:nvPr/>
        </p:nvSpPr>
        <p:spPr>
          <a:xfrm>
            <a:off x="2377440" y="3273552"/>
            <a:ext cx="2011680" cy="475488"/>
          </a:xfrm>
          <a:prstGeom prst="rect">
            <a:avLst/>
          </a:prstGeom>
          <a:noFill/>
          <a:ln/>
        </p:spPr>
        <p:txBody>
          <a:bodyPr wrap="square" rtlCol="0" anchor="ctr"/>
          <a:lstStyle/>
          <a:p>
            <a:pPr marL="0" indent="0" algn="ctr">
              <a:lnSpc>
                <a:spcPct val="150000"/>
              </a:lnSpc>
              <a:buNone/>
            </a:pPr>
            <a:r>
              <a:rPr lang="en-US" sz="1800" b="1" dirty="0">
                <a:solidFill>
                  <a:srgbClr val="F5A623"/>
                </a:solidFill>
                <a:latin typeface="Arial" pitchFamily="34" charset="0"/>
                <a:ea typeface="Arial" pitchFamily="34" charset="-122"/>
                <a:cs typeface="Arial" pitchFamily="34" charset="-120"/>
              </a:rPr>
              <a:t>100M+ USD</a:t>
            </a:r>
            <a:endParaRPr lang="en-US" sz="1800" dirty="0"/>
          </a:p>
        </p:txBody>
      </p:sp>
      <p:sp>
        <p:nvSpPr>
          <p:cNvPr id="13" name="Text 11"/>
          <p:cNvSpPr/>
          <p:nvPr/>
        </p:nvSpPr>
        <p:spPr>
          <a:xfrm>
            <a:off x="2377440" y="3730752"/>
            <a:ext cx="2011680" cy="457200"/>
          </a:xfrm>
          <a:prstGeom prst="rect">
            <a:avLst/>
          </a:prstGeom>
          <a:noFill/>
          <a:ln/>
        </p:spPr>
        <p:txBody>
          <a:bodyPr wrap="square" rtlCol="0" anchor="ctr"/>
          <a:lstStyle/>
          <a:p>
            <a:pPr marL="0" indent="0" algn="ctr">
              <a:lnSpc>
                <a:spcPct val="150000"/>
              </a:lnSpc>
              <a:buNone/>
            </a:pPr>
            <a:r>
              <a:rPr lang="en-US" sz="900" dirty="0">
                <a:solidFill>
                  <a:srgbClr val="D9E8F5"/>
                </a:solidFill>
                <a:latin typeface="Arial" pitchFamily="34" charset="0"/>
                <a:ea typeface="Arial" pitchFamily="34" charset="-122"/>
                <a:cs typeface="Arial" pitchFamily="34" charset="-120"/>
              </a:rPr>
              <a:t>Chi phí game AAA hàng đầu</a:t>
            </a:r>
            <a:endParaRPr lang="en-US" sz="900" dirty="0"/>
          </a:p>
        </p:txBody>
      </p:sp>
      <p:sp>
        <p:nvSpPr>
          <p:cNvPr id="14" name="Shape 12"/>
          <p:cNvSpPr/>
          <p:nvPr/>
        </p:nvSpPr>
        <p:spPr>
          <a:xfrm>
            <a:off x="4754880" y="914400"/>
            <a:ext cx="4206240" cy="3566160"/>
          </a:xfrm>
          <a:prstGeom prst="roundRect">
            <a:avLst>
              <a:gd name="adj" fmla="val 2564"/>
            </a:avLst>
          </a:prstGeom>
          <a:solidFill>
            <a:srgbClr val="FFFFFF"/>
          </a:solidFill>
          <a:ln/>
          <a:effectLst>
            <a:outerShdw blurRad="101600" dist="38100" dir="2700000" algn="bl" rotWithShape="0">
              <a:srgbClr val="000000">
                <a:alpha val="12000"/>
              </a:srgbClr>
            </a:outerShdw>
          </a:effectLst>
        </p:spPr>
      </p:sp>
      <p:sp>
        <p:nvSpPr>
          <p:cNvPr id="15" name="Shape 13"/>
          <p:cNvSpPr/>
          <p:nvPr/>
        </p:nvSpPr>
        <p:spPr>
          <a:xfrm>
            <a:off x="4754880" y="914400"/>
            <a:ext cx="4206240" cy="384048"/>
          </a:xfrm>
          <a:prstGeom prst="rect">
            <a:avLst/>
          </a:prstGeom>
          <a:solidFill>
            <a:srgbClr val="E8543A"/>
          </a:solidFill>
          <a:ln/>
        </p:spPr>
      </p:sp>
      <p:sp>
        <p:nvSpPr>
          <p:cNvPr id="16" name="Text 14"/>
          <p:cNvSpPr/>
          <p:nvPr/>
        </p:nvSpPr>
        <p:spPr>
          <a:xfrm>
            <a:off x="4892040" y="950976"/>
            <a:ext cx="3931920" cy="310896"/>
          </a:xfrm>
          <a:prstGeom prst="rect">
            <a:avLst/>
          </a:prstGeom>
          <a:noFill/>
          <a:ln/>
        </p:spPr>
        <p:txBody>
          <a:bodyPr wrap="square" rtlCol="0" anchor="ctr"/>
          <a:lstStyle/>
          <a:p>
            <a:pPr marL="0" indent="0">
              <a:lnSpc>
                <a:spcPct val="150000"/>
              </a:lnSpc>
              <a:buNone/>
            </a:pPr>
            <a:r>
              <a:rPr lang="en-US" sz="1300" b="1" dirty="0">
                <a:solidFill>
                  <a:srgbClr val="FFFFFF"/>
                </a:solidFill>
                <a:latin typeface="Arial" pitchFamily="34" charset="0"/>
                <a:ea typeface="Arial" pitchFamily="34" charset="-122"/>
                <a:cs typeface="Arial" pitchFamily="34" charset="-120"/>
              </a:rPr>
              <a:t>🎯  Mục Tiêu Nghiên Cứu Cốt Lõi</a:t>
            </a:r>
            <a:endParaRPr lang="en-US" sz="1300" dirty="0"/>
          </a:p>
        </p:txBody>
      </p:sp>
      <p:sp>
        <p:nvSpPr>
          <p:cNvPr id="17" name="Shape 15"/>
          <p:cNvSpPr/>
          <p:nvPr/>
        </p:nvSpPr>
        <p:spPr>
          <a:xfrm>
            <a:off x="4892040" y="1426464"/>
            <a:ext cx="384048" cy="384048"/>
          </a:xfrm>
          <a:prstGeom prst="ellipse">
            <a:avLst/>
          </a:prstGeom>
          <a:solidFill>
            <a:srgbClr val="2D6A9F"/>
          </a:solidFill>
          <a:ln w="12700">
            <a:solidFill>
              <a:srgbClr val="2D6A9F"/>
            </a:solidFill>
            <a:prstDash val="solid"/>
          </a:ln>
        </p:spPr>
      </p:sp>
      <p:sp>
        <p:nvSpPr>
          <p:cNvPr id="18" name="Text 16"/>
          <p:cNvSpPr/>
          <p:nvPr/>
        </p:nvSpPr>
        <p:spPr>
          <a:xfrm>
            <a:off x="4892040" y="1417320"/>
            <a:ext cx="384048" cy="402336"/>
          </a:xfrm>
          <a:prstGeom prst="rect">
            <a:avLst/>
          </a:prstGeom>
          <a:noFill/>
          <a:ln/>
        </p:spPr>
        <p:txBody>
          <a:bodyPr wrap="square" rtlCol="0" anchor="ctr"/>
          <a:lstStyle/>
          <a:p>
            <a:pPr marL="0" indent="0" algn="ctr">
              <a:lnSpc>
                <a:spcPct val="150000"/>
              </a:lnSpc>
              <a:buNone/>
            </a:pPr>
            <a:r>
              <a:rPr lang="en-US" sz="1176" dirty="0">
                <a:solidFill>
                  <a:srgbClr val="000000"/>
                </a:solidFill>
              </a:rPr>
              <a:t>🔍</a:t>
            </a:r>
            <a:endParaRPr lang="en-US" sz="1176" dirty="0"/>
          </a:p>
        </p:txBody>
      </p:sp>
      <p:sp>
        <p:nvSpPr>
          <p:cNvPr id="19" name="Text 17"/>
          <p:cNvSpPr/>
          <p:nvPr/>
        </p:nvSpPr>
        <p:spPr>
          <a:xfrm>
            <a:off x="5376672" y="1435608"/>
            <a:ext cx="3383280" cy="274320"/>
          </a:xfrm>
          <a:prstGeom prst="rect">
            <a:avLst/>
          </a:prstGeom>
          <a:noFill/>
          <a:ln/>
        </p:spPr>
        <p:txBody>
          <a:bodyPr wrap="square" rtlCol="0" anchor="ctr"/>
          <a:lstStyle/>
          <a:p>
            <a:pPr marL="0" indent="0">
              <a:lnSpc>
                <a:spcPct val="150000"/>
              </a:lnSpc>
              <a:buNone/>
            </a:pPr>
            <a:r>
              <a:rPr lang="en-US" sz="1200" b="1" dirty="0">
                <a:solidFill>
                  <a:srgbClr val="1A2C5B"/>
                </a:solidFill>
                <a:latin typeface="Arial" pitchFamily="34" charset="0"/>
                <a:ea typeface="Arial" pitchFamily="34" charset="-122"/>
                <a:cs typeface="Arial" pitchFamily="34" charset="-120"/>
              </a:rPr>
              <a:t>Xác định quy luật</a:t>
            </a:r>
            <a:endParaRPr lang="en-US" sz="1200" dirty="0"/>
          </a:p>
        </p:txBody>
      </p:sp>
      <p:sp>
        <p:nvSpPr>
          <p:cNvPr id="20" name="Text 18"/>
          <p:cNvSpPr/>
          <p:nvPr/>
        </p:nvSpPr>
        <p:spPr>
          <a:xfrm>
            <a:off x="5376672" y="1719072"/>
            <a:ext cx="3383280" cy="566928"/>
          </a:xfrm>
          <a:prstGeom prst="rect">
            <a:avLst/>
          </a:prstGeom>
          <a:noFill/>
          <a:ln/>
        </p:spPr>
        <p:txBody>
          <a:bodyPr wrap="square" rtlCol="0" anchor="t"/>
          <a:lstStyle/>
          <a:p>
            <a:pPr marL="0" indent="0" algn="l">
              <a:lnSpc>
                <a:spcPct val="150000"/>
              </a:lnSpc>
              <a:buNone/>
            </a:pPr>
            <a:r>
              <a:rPr lang="en-US" sz="1000" dirty="0">
                <a:solidFill>
                  <a:srgbClr val="444444"/>
                </a:solidFill>
                <a:latin typeface="Arial" pitchFamily="34" charset="0"/>
                <a:ea typeface="Arial" pitchFamily="34" charset="-122"/>
                <a:cs typeface="Arial" pitchFamily="34" charset="-120"/>
              </a:rPr>
              <a:t>Thấu hiểu các yếu tố cốt lõi (thể loại, hệ máy, địa lý) tác động tới doanh thu game toàn cầu.</a:t>
            </a:r>
            <a:endParaRPr lang="en-US" sz="1000" dirty="0"/>
          </a:p>
        </p:txBody>
      </p:sp>
      <p:sp>
        <p:nvSpPr>
          <p:cNvPr id="21" name="Shape 19"/>
          <p:cNvSpPr/>
          <p:nvPr/>
        </p:nvSpPr>
        <p:spPr>
          <a:xfrm>
            <a:off x="4892040" y="2432304"/>
            <a:ext cx="384048" cy="384048"/>
          </a:xfrm>
          <a:prstGeom prst="ellipse">
            <a:avLst/>
          </a:prstGeom>
          <a:solidFill>
            <a:srgbClr val="2D6A9F"/>
          </a:solidFill>
          <a:ln w="12700">
            <a:solidFill>
              <a:srgbClr val="2D6A9F"/>
            </a:solidFill>
            <a:prstDash val="solid"/>
          </a:ln>
        </p:spPr>
      </p:sp>
      <p:sp>
        <p:nvSpPr>
          <p:cNvPr id="22" name="Text 20"/>
          <p:cNvSpPr/>
          <p:nvPr/>
        </p:nvSpPr>
        <p:spPr>
          <a:xfrm>
            <a:off x="4892040" y="2423160"/>
            <a:ext cx="384048" cy="402336"/>
          </a:xfrm>
          <a:prstGeom prst="rect">
            <a:avLst/>
          </a:prstGeom>
          <a:noFill/>
          <a:ln/>
        </p:spPr>
        <p:txBody>
          <a:bodyPr wrap="square" rtlCol="0" anchor="ctr"/>
          <a:lstStyle/>
          <a:p>
            <a:pPr marL="0" indent="0" algn="ctr">
              <a:lnSpc>
                <a:spcPct val="150000"/>
              </a:lnSpc>
              <a:buNone/>
            </a:pPr>
            <a:r>
              <a:rPr lang="en-US" sz="1176" dirty="0">
                <a:solidFill>
                  <a:srgbClr val="000000"/>
                </a:solidFill>
              </a:rPr>
              <a:t>🤖</a:t>
            </a:r>
            <a:endParaRPr lang="en-US" sz="1176" dirty="0"/>
          </a:p>
        </p:txBody>
      </p:sp>
      <p:sp>
        <p:nvSpPr>
          <p:cNvPr id="23" name="Text 21"/>
          <p:cNvSpPr/>
          <p:nvPr/>
        </p:nvSpPr>
        <p:spPr>
          <a:xfrm>
            <a:off x="5376672" y="2441448"/>
            <a:ext cx="3383280" cy="274320"/>
          </a:xfrm>
          <a:prstGeom prst="rect">
            <a:avLst/>
          </a:prstGeom>
          <a:noFill/>
          <a:ln/>
        </p:spPr>
        <p:txBody>
          <a:bodyPr wrap="square" rtlCol="0" anchor="ctr"/>
          <a:lstStyle/>
          <a:p>
            <a:pPr marL="0" indent="0">
              <a:lnSpc>
                <a:spcPct val="150000"/>
              </a:lnSpc>
              <a:buNone/>
            </a:pPr>
            <a:r>
              <a:rPr lang="en-US" sz="1200" b="1" dirty="0">
                <a:solidFill>
                  <a:srgbClr val="1A2C5B"/>
                </a:solidFill>
                <a:latin typeface="Arial" pitchFamily="34" charset="0"/>
                <a:ea typeface="Arial" pitchFamily="34" charset="-122"/>
                <a:cs typeface="Arial" pitchFamily="34" charset="-120"/>
              </a:rPr>
              <a:t>Dự đoán bằng ML</a:t>
            </a:r>
            <a:endParaRPr lang="en-US" sz="1200" dirty="0"/>
          </a:p>
        </p:txBody>
      </p:sp>
      <p:sp>
        <p:nvSpPr>
          <p:cNvPr id="24" name="Text 22"/>
          <p:cNvSpPr/>
          <p:nvPr/>
        </p:nvSpPr>
        <p:spPr>
          <a:xfrm>
            <a:off x="5376672" y="2724912"/>
            <a:ext cx="3383280" cy="566928"/>
          </a:xfrm>
          <a:prstGeom prst="rect">
            <a:avLst/>
          </a:prstGeom>
          <a:noFill/>
          <a:ln/>
        </p:spPr>
        <p:txBody>
          <a:bodyPr wrap="square" rtlCol="0" anchor="t"/>
          <a:lstStyle/>
          <a:p>
            <a:pPr marL="0" indent="0" algn="l">
              <a:lnSpc>
                <a:spcPct val="150000"/>
              </a:lnSpc>
              <a:buNone/>
            </a:pPr>
            <a:r>
              <a:rPr lang="en-US" sz="1000" dirty="0">
                <a:solidFill>
                  <a:srgbClr val="444444"/>
                </a:solidFill>
                <a:latin typeface="Arial" pitchFamily="34" charset="0"/>
                <a:ea typeface="Arial" pitchFamily="34" charset="-122"/>
                <a:cs typeface="Arial" pitchFamily="34" charset="-120"/>
              </a:rPr>
              <a:t>Xây dựng mô hình học máy để dự báo chính xác doanh số từ giai đoạn lập kế hoạch.</a:t>
            </a:r>
            <a:endParaRPr lang="en-US" sz="1000" dirty="0"/>
          </a:p>
        </p:txBody>
      </p:sp>
      <p:sp>
        <p:nvSpPr>
          <p:cNvPr id="25" name="Shape 23"/>
          <p:cNvSpPr/>
          <p:nvPr/>
        </p:nvSpPr>
        <p:spPr>
          <a:xfrm>
            <a:off x="4892040" y="3438144"/>
            <a:ext cx="384048" cy="384048"/>
          </a:xfrm>
          <a:prstGeom prst="ellipse">
            <a:avLst/>
          </a:prstGeom>
          <a:solidFill>
            <a:srgbClr val="2D6A9F"/>
          </a:solidFill>
          <a:ln w="12700">
            <a:solidFill>
              <a:srgbClr val="2D6A9F"/>
            </a:solidFill>
            <a:prstDash val="solid"/>
          </a:ln>
        </p:spPr>
      </p:sp>
      <p:sp>
        <p:nvSpPr>
          <p:cNvPr id="26" name="Text 24"/>
          <p:cNvSpPr/>
          <p:nvPr/>
        </p:nvSpPr>
        <p:spPr>
          <a:xfrm>
            <a:off x="4892040" y="3429000"/>
            <a:ext cx="384048" cy="402336"/>
          </a:xfrm>
          <a:prstGeom prst="rect">
            <a:avLst/>
          </a:prstGeom>
          <a:noFill/>
          <a:ln/>
        </p:spPr>
        <p:txBody>
          <a:bodyPr wrap="square" rtlCol="0" anchor="ctr"/>
          <a:lstStyle/>
          <a:p>
            <a:pPr marL="0" indent="0" algn="ctr">
              <a:lnSpc>
                <a:spcPct val="150000"/>
              </a:lnSpc>
              <a:buNone/>
            </a:pPr>
            <a:r>
              <a:rPr lang="en-US" sz="1176" dirty="0">
                <a:solidFill>
                  <a:srgbClr val="000000"/>
                </a:solidFill>
              </a:rPr>
              <a:t>🔵</a:t>
            </a:r>
            <a:endParaRPr lang="en-US" sz="1176" dirty="0"/>
          </a:p>
        </p:txBody>
      </p:sp>
      <p:sp>
        <p:nvSpPr>
          <p:cNvPr id="27" name="Text 25"/>
          <p:cNvSpPr/>
          <p:nvPr/>
        </p:nvSpPr>
        <p:spPr>
          <a:xfrm>
            <a:off x="5376672" y="3447288"/>
            <a:ext cx="3383280" cy="274320"/>
          </a:xfrm>
          <a:prstGeom prst="rect">
            <a:avLst/>
          </a:prstGeom>
          <a:noFill/>
          <a:ln/>
        </p:spPr>
        <p:txBody>
          <a:bodyPr wrap="square" rtlCol="0" anchor="ctr"/>
          <a:lstStyle/>
          <a:p>
            <a:pPr marL="0" indent="0">
              <a:lnSpc>
                <a:spcPct val="150000"/>
              </a:lnSpc>
              <a:buNone/>
            </a:pPr>
            <a:r>
              <a:rPr lang="en-US" sz="1200" b="1" dirty="0">
                <a:solidFill>
                  <a:srgbClr val="1A2C5B"/>
                </a:solidFill>
                <a:latin typeface="Arial" pitchFamily="34" charset="0"/>
                <a:ea typeface="Arial" pitchFamily="34" charset="-122"/>
                <a:cs typeface="Arial" pitchFamily="34" charset="-120"/>
              </a:rPr>
              <a:t>Phân cụm thông minh</a:t>
            </a:r>
            <a:endParaRPr lang="en-US" sz="1200" dirty="0"/>
          </a:p>
        </p:txBody>
      </p:sp>
      <p:sp>
        <p:nvSpPr>
          <p:cNvPr id="28" name="Text 26"/>
          <p:cNvSpPr/>
          <p:nvPr/>
        </p:nvSpPr>
        <p:spPr>
          <a:xfrm>
            <a:off x="5376672" y="3730752"/>
            <a:ext cx="3383280" cy="566928"/>
          </a:xfrm>
          <a:prstGeom prst="rect">
            <a:avLst/>
          </a:prstGeom>
          <a:noFill/>
          <a:ln/>
        </p:spPr>
        <p:txBody>
          <a:bodyPr wrap="square" rtlCol="0" anchor="t"/>
          <a:lstStyle/>
          <a:p>
            <a:pPr marL="0" indent="0" algn="l">
              <a:lnSpc>
                <a:spcPct val="150000"/>
              </a:lnSpc>
              <a:buNone/>
            </a:pPr>
            <a:r>
              <a:rPr lang="en-US" sz="1000" dirty="0">
                <a:solidFill>
                  <a:srgbClr val="444444"/>
                </a:solidFill>
                <a:latin typeface="Arial" pitchFamily="34" charset="0"/>
                <a:ea typeface="Arial" pitchFamily="34" charset="-122"/>
                <a:cs typeface="Arial" pitchFamily="34" charset="-120"/>
              </a:rPr>
              <a:t>Tự động nhóm game thành phân khúc tối ưu để phục vụ chiến lược tiếp thị mục tiêu.</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30352"/>
          </a:xfrm>
          <a:prstGeom prst="rect">
            <a:avLst/>
          </a:prstGeom>
          <a:noFill/>
          <a:ln/>
        </p:spPr>
        <p:txBody>
          <a:bodyPr wrap="square" rtlCol="0" anchor="ctr"/>
          <a:lstStyle/>
          <a:p>
            <a:pPr marL="0" indent="0">
              <a:lnSpc>
                <a:spcPct val="150000"/>
              </a:lnSpc>
              <a:buNone/>
            </a:pPr>
            <a:r>
              <a:rPr lang="en-US" sz="2400" b="1" dirty="0">
                <a:solidFill>
                  <a:srgbClr val="1A2C5B"/>
                </a:solidFill>
                <a:latin typeface="Arial" pitchFamily="34" charset="0"/>
                <a:ea typeface="Arial" pitchFamily="34" charset="-122"/>
                <a:cs typeface="Arial" pitchFamily="34" charset="-120"/>
              </a:rPr>
              <a:t>HỆ THỐNG 7 CÂU HỎI NGHIÊN CỨU</a:t>
            </a:r>
            <a:endParaRPr lang="en-US" sz="2400" dirty="0"/>
          </a:p>
        </p:txBody>
      </p:sp>
      <p:sp>
        <p:nvSpPr>
          <p:cNvPr id="4" name="Shape 2"/>
          <p:cNvSpPr/>
          <p:nvPr/>
        </p:nvSpPr>
        <p:spPr>
          <a:xfrm>
            <a:off x="292608" y="914400"/>
            <a:ext cx="4279392" cy="4064508"/>
          </a:xfrm>
          <a:prstGeom prst="roundRect">
            <a:avLst>
              <a:gd name="adj" fmla="val 2198"/>
            </a:avLst>
          </a:prstGeom>
          <a:solidFill>
            <a:srgbClr val="FFFFFF"/>
          </a:solidFill>
          <a:ln/>
          <a:effectLst>
            <a:outerShdw blurRad="101600" dist="38100" dir="2700000" algn="bl" rotWithShape="0">
              <a:srgbClr val="000000">
                <a:alpha val="12000"/>
              </a:srgbClr>
            </a:outerShdw>
          </a:effectLst>
        </p:spPr>
      </p:sp>
      <p:sp>
        <p:nvSpPr>
          <p:cNvPr id="5" name="Shape 3"/>
          <p:cNvSpPr/>
          <p:nvPr/>
        </p:nvSpPr>
        <p:spPr>
          <a:xfrm>
            <a:off x="292608" y="914400"/>
            <a:ext cx="4279392" cy="365760"/>
          </a:xfrm>
          <a:prstGeom prst="rect">
            <a:avLst/>
          </a:prstGeom>
          <a:solidFill>
            <a:srgbClr val="2D6A9F"/>
          </a:solidFill>
          <a:ln/>
        </p:spPr>
      </p:sp>
      <p:sp>
        <p:nvSpPr>
          <p:cNvPr id="6" name="Text 4"/>
          <p:cNvSpPr/>
          <p:nvPr/>
        </p:nvSpPr>
        <p:spPr>
          <a:xfrm>
            <a:off x="411480" y="941832"/>
            <a:ext cx="4023360" cy="310896"/>
          </a:xfrm>
          <a:prstGeom prst="rect">
            <a:avLst/>
          </a:prstGeom>
          <a:noFill/>
          <a:ln/>
        </p:spPr>
        <p:txBody>
          <a:bodyPr wrap="square" rtlCol="0" anchor="ctr"/>
          <a:lstStyle/>
          <a:p>
            <a:pPr marL="0" indent="0">
              <a:lnSpc>
                <a:spcPct val="150000"/>
              </a:lnSpc>
              <a:buNone/>
            </a:pPr>
            <a:r>
              <a:rPr lang="en-US" sz="1400" b="1" dirty="0">
                <a:solidFill>
                  <a:srgbClr val="FFFFFF"/>
                </a:solidFill>
                <a:latin typeface="Arial" pitchFamily="34" charset="0"/>
                <a:ea typeface="Arial" pitchFamily="34" charset="-122"/>
                <a:cs typeface="Arial" pitchFamily="34" charset="-120"/>
              </a:rPr>
              <a:t>📊  Phân Tích Thống Kê (EDA)</a:t>
            </a:r>
            <a:endParaRPr lang="en-US" sz="1400" dirty="0"/>
          </a:p>
        </p:txBody>
      </p:sp>
      <p:sp>
        <p:nvSpPr>
          <p:cNvPr id="7" name="Shape 5"/>
          <p:cNvSpPr/>
          <p:nvPr/>
        </p:nvSpPr>
        <p:spPr>
          <a:xfrm>
            <a:off x="438912" y="1472184"/>
            <a:ext cx="320040" cy="320040"/>
          </a:xfrm>
          <a:prstGeom prst="ellipse">
            <a:avLst/>
          </a:prstGeom>
          <a:solidFill>
            <a:srgbClr val="2D6A9F"/>
          </a:solidFill>
          <a:ln w="12700">
            <a:solidFill>
              <a:srgbClr val="2D6A9F"/>
            </a:solidFill>
            <a:prstDash val="solid"/>
          </a:ln>
        </p:spPr>
      </p:sp>
      <p:sp>
        <p:nvSpPr>
          <p:cNvPr id="8" name="Text 6"/>
          <p:cNvSpPr/>
          <p:nvPr/>
        </p:nvSpPr>
        <p:spPr>
          <a:xfrm>
            <a:off x="365760" y="1435608"/>
            <a:ext cx="466344" cy="384048"/>
          </a:xfrm>
          <a:prstGeom prst="rect">
            <a:avLst/>
          </a:prstGeom>
          <a:noFill/>
          <a:ln/>
        </p:spPr>
        <p:txBody>
          <a:bodyPr wrap="square" rtlCol="0" anchor="ctr"/>
          <a:lstStyle/>
          <a:p>
            <a:pPr marL="0" indent="0" algn="ctr">
              <a:lnSpc>
                <a:spcPct val="150000"/>
              </a:lnSpc>
              <a:buNone/>
            </a:pPr>
            <a:r>
              <a:rPr lang="en-US" sz="900" b="1">
                <a:solidFill>
                  <a:srgbClr val="FFFFFF"/>
                </a:solidFill>
                <a:latin typeface="Arial" pitchFamily="34" charset="0"/>
                <a:ea typeface="Arial" pitchFamily="34" charset="-122"/>
                <a:cs typeface="Arial" pitchFamily="34" charset="-120"/>
              </a:rPr>
              <a:t>Q1</a:t>
            </a:r>
            <a:endParaRPr lang="en-US" sz="900" dirty="0"/>
          </a:p>
        </p:txBody>
      </p:sp>
      <p:sp>
        <p:nvSpPr>
          <p:cNvPr id="9" name="Text 7"/>
          <p:cNvSpPr/>
          <p:nvPr/>
        </p:nvSpPr>
        <p:spPr>
          <a:xfrm>
            <a:off x="850392" y="1417320"/>
            <a:ext cx="3520440" cy="566928"/>
          </a:xfrm>
          <a:prstGeom prst="rect">
            <a:avLst/>
          </a:prstGeom>
          <a:noFill/>
          <a:ln/>
        </p:spPr>
        <p:txBody>
          <a:bodyPr wrap="square" rtlCol="0" anchor="t"/>
          <a:lstStyle/>
          <a:p>
            <a:pPr marL="0" indent="0" algn="l">
              <a:lnSpc>
                <a:spcPct val="150000"/>
              </a:lnSpc>
              <a:buNone/>
            </a:pPr>
            <a:r>
              <a:rPr lang="en-US" sz="1200" dirty="0">
                <a:solidFill>
                  <a:srgbClr val="333333"/>
                </a:solidFill>
                <a:latin typeface="Arial" pitchFamily="34" charset="0"/>
                <a:ea typeface="Arial" pitchFamily="34" charset="-122"/>
                <a:cs typeface="Arial" pitchFamily="34" charset="-120"/>
              </a:rPr>
              <a:t>Thể loại game (Genre) nào chiếm lĩnh thị phần doanh số toàn cầu?</a:t>
            </a:r>
            <a:endParaRPr lang="en-US" sz="1200" dirty="0"/>
          </a:p>
        </p:txBody>
      </p:sp>
      <p:sp>
        <p:nvSpPr>
          <p:cNvPr id="10" name="Shape 8"/>
          <p:cNvSpPr/>
          <p:nvPr/>
        </p:nvSpPr>
        <p:spPr>
          <a:xfrm>
            <a:off x="438912" y="2167128"/>
            <a:ext cx="320040" cy="320040"/>
          </a:xfrm>
          <a:prstGeom prst="ellipse">
            <a:avLst/>
          </a:prstGeom>
          <a:solidFill>
            <a:srgbClr val="2D6A9F"/>
          </a:solidFill>
          <a:ln w="12700">
            <a:solidFill>
              <a:srgbClr val="2D6A9F"/>
            </a:solidFill>
            <a:prstDash val="solid"/>
          </a:ln>
        </p:spPr>
      </p:sp>
      <p:sp>
        <p:nvSpPr>
          <p:cNvPr id="11" name="Text 9"/>
          <p:cNvSpPr/>
          <p:nvPr/>
        </p:nvSpPr>
        <p:spPr>
          <a:xfrm>
            <a:off x="365760" y="2167128"/>
            <a:ext cx="466344" cy="320040"/>
          </a:xfrm>
          <a:prstGeom prst="rect">
            <a:avLst/>
          </a:prstGeom>
          <a:noFill/>
          <a:ln/>
        </p:spPr>
        <p:txBody>
          <a:bodyPr wrap="square" rtlCol="0" anchor="ctr"/>
          <a:lstStyle/>
          <a:p>
            <a:pPr marL="0" indent="0" algn="ctr">
              <a:lnSpc>
                <a:spcPct val="150000"/>
              </a:lnSpc>
              <a:buNone/>
            </a:pPr>
            <a:r>
              <a:rPr lang="en-US" sz="900" b="1" dirty="0">
                <a:solidFill>
                  <a:srgbClr val="FFFFFF"/>
                </a:solidFill>
                <a:latin typeface="Arial" pitchFamily="34" charset="0"/>
                <a:ea typeface="Arial" pitchFamily="34" charset="-122"/>
                <a:cs typeface="Arial" pitchFamily="34" charset="-120"/>
              </a:rPr>
              <a:t>Q2</a:t>
            </a:r>
            <a:endParaRPr lang="en-US" sz="900" dirty="0"/>
          </a:p>
        </p:txBody>
      </p:sp>
      <p:sp>
        <p:nvSpPr>
          <p:cNvPr id="12" name="Text 10"/>
          <p:cNvSpPr/>
          <p:nvPr/>
        </p:nvSpPr>
        <p:spPr>
          <a:xfrm>
            <a:off x="850392" y="2112264"/>
            <a:ext cx="3520440" cy="566928"/>
          </a:xfrm>
          <a:prstGeom prst="rect">
            <a:avLst/>
          </a:prstGeom>
          <a:noFill/>
          <a:ln/>
        </p:spPr>
        <p:txBody>
          <a:bodyPr wrap="square" rtlCol="0" anchor="t"/>
          <a:lstStyle/>
          <a:p>
            <a:pPr marL="0" indent="0" algn="l">
              <a:lnSpc>
                <a:spcPct val="150000"/>
              </a:lnSpc>
              <a:buNone/>
            </a:pPr>
            <a:r>
              <a:rPr lang="en-US" sz="1200" dirty="0">
                <a:solidFill>
                  <a:srgbClr val="333333"/>
                </a:solidFill>
                <a:latin typeface="Arial" pitchFamily="34" charset="0"/>
                <a:ea typeface="Arial" pitchFamily="34" charset="-122"/>
                <a:cs typeface="Arial" pitchFamily="34" charset="-120"/>
              </a:rPr>
              <a:t>Hệ máy console nào đạt kỷ lục bán đĩa nhiều nhất?</a:t>
            </a:r>
            <a:endParaRPr lang="en-US" sz="1200" dirty="0"/>
          </a:p>
        </p:txBody>
      </p:sp>
      <p:sp>
        <p:nvSpPr>
          <p:cNvPr id="13" name="Shape 11"/>
          <p:cNvSpPr/>
          <p:nvPr/>
        </p:nvSpPr>
        <p:spPr>
          <a:xfrm>
            <a:off x="438912" y="2862072"/>
            <a:ext cx="320040" cy="320040"/>
          </a:xfrm>
          <a:prstGeom prst="ellipse">
            <a:avLst/>
          </a:prstGeom>
          <a:solidFill>
            <a:srgbClr val="2D6A9F"/>
          </a:solidFill>
          <a:ln w="12700">
            <a:solidFill>
              <a:srgbClr val="2D6A9F"/>
            </a:solidFill>
            <a:prstDash val="solid"/>
          </a:ln>
        </p:spPr>
      </p:sp>
      <p:sp>
        <p:nvSpPr>
          <p:cNvPr id="14" name="Text 12"/>
          <p:cNvSpPr/>
          <p:nvPr/>
        </p:nvSpPr>
        <p:spPr>
          <a:xfrm>
            <a:off x="411480" y="2862072"/>
            <a:ext cx="393192" cy="320040"/>
          </a:xfrm>
          <a:prstGeom prst="rect">
            <a:avLst/>
          </a:prstGeom>
          <a:noFill/>
          <a:ln/>
        </p:spPr>
        <p:txBody>
          <a:bodyPr wrap="square" rtlCol="0" anchor="ctr"/>
          <a:lstStyle/>
          <a:p>
            <a:pPr marL="0" indent="0" algn="ctr">
              <a:lnSpc>
                <a:spcPct val="150000"/>
              </a:lnSpc>
              <a:buNone/>
            </a:pPr>
            <a:r>
              <a:rPr lang="en-US" sz="900" b="1" dirty="0">
                <a:solidFill>
                  <a:srgbClr val="FFFFFF"/>
                </a:solidFill>
                <a:latin typeface="Arial" pitchFamily="34" charset="0"/>
                <a:ea typeface="Arial" pitchFamily="34" charset="-122"/>
                <a:cs typeface="Arial" pitchFamily="34" charset="-120"/>
              </a:rPr>
              <a:t>Q3</a:t>
            </a:r>
            <a:endParaRPr lang="en-US" sz="900" dirty="0"/>
          </a:p>
        </p:txBody>
      </p:sp>
      <p:sp>
        <p:nvSpPr>
          <p:cNvPr id="15" name="Text 13"/>
          <p:cNvSpPr/>
          <p:nvPr/>
        </p:nvSpPr>
        <p:spPr>
          <a:xfrm>
            <a:off x="850392" y="2807208"/>
            <a:ext cx="3520440" cy="566928"/>
          </a:xfrm>
          <a:prstGeom prst="rect">
            <a:avLst/>
          </a:prstGeom>
          <a:noFill/>
          <a:ln/>
        </p:spPr>
        <p:txBody>
          <a:bodyPr wrap="square" rtlCol="0" anchor="t"/>
          <a:lstStyle/>
          <a:p>
            <a:pPr marL="0" indent="0" algn="l">
              <a:lnSpc>
                <a:spcPct val="150000"/>
              </a:lnSpc>
              <a:buNone/>
            </a:pPr>
            <a:r>
              <a:rPr lang="en-US" sz="1200" dirty="0">
                <a:solidFill>
                  <a:srgbClr val="333333"/>
                </a:solidFill>
                <a:latin typeface="Arial" pitchFamily="34" charset="0"/>
                <a:ea typeface="Arial" pitchFamily="34" charset="-122"/>
                <a:cs typeface="Arial" pitchFamily="34" charset="-120"/>
              </a:rPr>
              <a:t>Nhà phát hành nào có sản lượng doanh số vượt trội?</a:t>
            </a:r>
            <a:endParaRPr lang="en-US" sz="1200" dirty="0"/>
          </a:p>
        </p:txBody>
      </p:sp>
      <p:sp>
        <p:nvSpPr>
          <p:cNvPr id="16" name="Shape 14"/>
          <p:cNvSpPr/>
          <p:nvPr/>
        </p:nvSpPr>
        <p:spPr>
          <a:xfrm>
            <a:off x="438912" y="3557016"/>
            <a:ext cx="320040" cy="320040"/>
          </a:xfrm>
          <a:prstGeom prst="ellipse">
            <a:avLst/>
          </a:prstGeom>
          <a:solidFill>
            <a:srgbClr val="2D6A9F"/>
          </a:solidFill>
          <a:ln w="12700">
            <a:solidFill>
              <a:srgbClr val="2D6A9F"/>
            </a:solidFill>
            <a:prstDash val="solid"/>
          </a:ln>
        </p:spPr>
      </p:sp>
      <p:sp>
        <p:nvSpPr>
          <p:cNvPr id="17" name="Text 15"/>
          <p:cNvSpPr/>
          <p:nvPr/>
        </p:nvSpPr>
        <p:spPr>
          <a:xfrm>
            <a:off x="416052" y="3557016"/>
            <a:ext cx="365760" cy="320040"/>
          </a:xfrm>
          <a:prstGeom prst="rect">
            <a:avLst/>
          </a:prstGeom>
          <a:noFill/>
          <a:ln/>
        </p:spPr>
        <p:txBody>
          <a:bodyPr wrap="square" rtlCol="0" anchor="ctr"/>
          <a:lstStyle/>
          <a:p>
            <a:pPr marL="0" indent="0" algn="ctr">
              <a:lnSpc>
                <a:spcPct val="150000"/>
              </a:lnSpc>
              <a:buNone/>
            </a:pPr>
            <a:r>
              <a:rPr lang="en-US" sz="900" b="1" dirty="0">
                <a:solidFill>
                  <a:srgbClr val="FFFFFF"/>
                </a:solidFill>
                <a:latin typeface="Arial" pitchFamily="34" charset="0"/>
                <a:ea typeface="Arial" pitchFamily="34" charset="-122"/>
                <a:cs typeface="Arial" pitchFamily="34" charset="-120"/>
              </a:rPr>
              <a:t>Q4</a:t>
            </a:r>
            <a:endParaRPr lang="en-US" sz="900" dirty="0"/>
          </a:p>
        </p:txBody>
      </p:sp>
      <p:sp>
        <p:nvSpPr>
          <p:cNvPr id="18" name="Text 16"/>
          <p:cNvSpPr/>
          <p:nvPr/>
        </p:nvSpPr>
        <p:spPr>
          <a:xfrm>
            <a:off x="850392" y="3502152"/>
            <a:ext cx="3520440" cy="566928"/>
          </a:xfrm>
          <a:prstGeom prst="rect">
            <a:avLst/>
          </a:prstGeom>
          <a:noFill/>
          <a:ln/>
        </p:spPr>
        <p:txBody>
          <a:bodyPr wrap="square" rtlCol="0" anchor="t"/>
          <a:lstStyle/>
          <a:p>
            <a:pPr marL="0" indent="0" algn="l">
              <a:lnSpc>
                <a:spcPct val="150000"/>
              </a:lnSpc>
              <a:buNone/>
            </a:pPr>
            <a:r>
              <a:rPr lang="en-US" sz="1200">
                <a:solidFill>
                  <a:srgbClr val="333333"/>
                </a:solidFill>
                <a:latin typeface="Arial" pitchFamily="34" charset="0"/>
                <a:ea typeface="Arial" pitchFamily="34" charset="-122"/>
                <a:cs typeface="Arial" pitchFamily="34" charset="-120"/>
              </a:rPr>
              <a:t>Khu vực nào đóng góp doanh số nhiều nhất cho từng thể loại game?</a:t>
            </a:r>
            <a:endParaRPr lang="en-US" sz="1200" dirty="0"/>
          </a:p>
        </p:txBody>
      </p:sp>
      <p:sp>
        <p:nvSpPr>
          <p:cNvPr id="19" name="Shape 17"/>
          <p:cNvSpPr/>
          <p:nvPr/>
        </p:nvSpPr>
        <p:spPr>
          <a:xfrm>
            <a:off x="438912" y="4251960"/>
            <a:ext cx="320040" cy="320040"/>
          </a:xfrm>
          <a:prstGeom prst="ellipse">
            <a:avLst/>
          </a:prstGeom>
          <a:solidFill>
            <a:srgbClr val="2D6A9F"/>
          </a:solidFill>
          <a:ln w="12700">
            <a:solidFill>
              <a:srgbClr val="2D6A9F"/>
            </a:solidFill>
            <a:prstDash val="solid"/>
          </a:ln>
        </p:spPr>
      </p:sp>
      <p:sp>
        <p:nvSpPr>
          <p:cNvPr id="20" name="Text 18"/>
          <p:cNvSpPr/>
          <p:nvPr/>
        </p:nvSpPr>
        <p:spPr>
          <a:xfrm>
            <a:off x="411480" y="4251960"/>
            <a:ext cx="411480" cy="320040"/>
          </a:xfrm>
          <a:prstGeom prst="rect">
            <a:avLst/>
          </a:prstGeom>
          <a:noFill/>
          <a:ln/>
        </p:spPr>
        <p:txBody>
          <a:bodyPr wrap="square" rtlCol="0" anchor="ctr"/>
          <a:lstStyle/>
          <a:p>
            <a:pPr marL="0" indent="0" algn="ctr">
              <a:lnSpc>
                <a:spcPct val="150000"/>
              </a:lnSpc>
              <a:buNone/>
            </a:pPr>
            <a:r>
              <a:rPr lang="en-US" sz="900" b="1" dirty="0">
                <a:solidFill>
                  <a:srgbClr val="FFFFFF"/>
                </a:solidFill>
                <a:latin typeface="Arial" pitchFamily="34" charset="0"/>
                <a:ea typeface="Arial" pitchFamily="34" charset="-122"/>
                <a:cs typeface="Arial" pitchFamily="34" charset="-120"/>
              </a:rPr>
              <a:t>Q5</a:t>
            </a:r>
            <a:endParaRPr lang="en-US" sz="900" dirty="0"/>
          </a:p>
        </p:txBody>
      </p:sp>
      <p:sp>
        <p:nvSpPr>
          <p:cNvPr id="21" name="Text 19"/>
          <p:cNvSpPr/>
          <p:nvPr/>
        </p:nvSpPr>
        <p:spPr>
          <a:xfrm>
            <a:off x="850392" y="4197096"/>
            <a:ext cx="3520440" cy="566928"/>
          </a:xfrm>
          <a:prstGeom prst="rect">
            <a:avLst/>
          </a:prstGeom>
          <a:noFill/>
          <a:ln/>
        </p:spPr>
        <p:txBody>
          <a:bodyPr wrap="square" rtlCol="0" anchor="t"/>
          <a:lstStyle/>
          <a:p>
            <a:pPr marL="0" indent="0" algn="l">
              <a:lnSpc>
                <a:spcPct val="150000"/>
              </a:lnSpc>
              <a:buNone/>
            </a:pPr>
            <a:r>
              <a:rPr lang="vi-VN" sz="1200">
                <a:solidFill>
                  <a:srgbClr val="333333"/>
                </a:solidFill>
                <a:latin typeface="Arial" pitchFamily="34" charset="0"/>
                <a:ea typeface="Arial" pitchFamily="34" charset="-122"/>
                <a:cs typeface="Arial" pitchFamily="34" charset="-120"/>
              </a:rPr>
              <a:t>Xu hướng doanh số game thay đổi như thế nào theo thời gian?</a:t>
            </a:r>
            <a:endParaRPr lang="en-US" sz="1200" dirty="0"/>
          </a:p>
        </p:txBody>
      </p:sp>
      <p:sp>
        <p:nvSpPr>
          <p:cNvPr id="22" name="Shape 20"/>
          <p:cNvSpPr/>
          <p:nvPr/>
        </p:nvSpPr>
        <p:spPr>
          <a:xfrm>
            <a:off x="4754880" y="914400"/>
            <a:ext cx="4206240" cy="4064508"/>
          </a:xfrm>
          <a:prstGeom prst="roundRect">
            <a:avLst>
              <a:gd name="adj" fmla="val 2198"/>
            </a:avLst>
          </a:prstGeom>
          <a:solidFill>
            <a:srgbClr val="FFFFFF"/>
          </a:solidFill>
          <a:ln/>
          <a:effectLst>
            <a:outerShdw blurRad="101600" dist="38100" dir="2700000" algn="bl" rotWithShape="0">
              <a:srgbClr val="000000">
                <a:alpha val="12000"/>
              </a:srgbClr>
            </a:outerShdw>
          </a:effectLst>
        </p:spPr>
      </p:sp>
      <p:sp>
        <p:nvSpPr>
          <p:cNvPr id="23" name="Shape 21"/>
          <p:cNvSpPr/>
          <p:nvPr/>
        </p:nvSpPr>
        <p:spPr>
          <a:xfrm>
            <a:off x="4754880" y="914400"/>
            <a:ext cx="4206240" cy="365760"/>
          </a:xfrm>
          <a:prstGeom prst="rect">
            <a:avLst/>
          </a:prstGeom>
          <a:solidFill>
            <a:srgbClr val="E8543A"/>
          </a:solidFill>
          <a:ln/>
        </p:spPr>
      </p:sp>
      <p:sp>
        <p:nvSpPr>
          <p:cNvPr id="24" name="Text 22"/>
          <p:cNvSpPr/>
          <p:nvPr/>
        </p:nvSpPr>
        <p:spPr>
          <a:xfrm>
            <a:off x="4892040" y="941832"/>
            <a:ext cx="3931920" cy="310896"/>
          </a:xfrm>
          <a:prstGeom prst="rect">
            <a:avLst/>
          </a:prstGeom>
          <a:noFill/>
          <a:ln/>
        </p:spPr>
        <p:txBody>
          <a:bodyPr wrap="square" rtlCol="0" anchor="ctr"/>
          <a:lstStyle/>
          <a:p>
            <a:pPr marL="0" indent="0">
              <a:lnSpc>
                <a:spcPct val="150000"/>
              </a:lnSpc>
              <a:buNone/>
            </a:pPr>
            <a:r>
              <a:rPr lang="en-US" sz="1400" b="1" dirty="0">
                <a:solidFill>
                  <a:srgbClr val="FFFFFF"/>
                </a:solidFill>
                <a:latin typeface="Arial" pitchFamily="34" charset="0"/>
                <a:ea typeface="Arial" pitchFamily="34" charset="-122"/>
                <a:cs typeface="Arial" pitchFamily="34" charset="-120"/>
              </a:rPr>
              <a:t>🤖  Dự Đoán &amp; Phân Nhóm Học Máy</a:t>
            </a:r>
            <a:endParaRPr lang="en-US" sz="1400" dirty="0"/>
          </a:p>
        </p:txBody>
      </p:sp>
      <p:sp>
        <p:nvSpPr>
          <p:cNvPr id="25" name="Shape 23"/>
          <p:cNvSpPr/>
          <p:nvPr/>
        </p:nvSpPr>
        <p:spPr>
          <a:xfrm>
            <a:off x="4892040" y="1417320"/>
            <a:ext cx="3913632" cy="1572768"/>
          </a:xfrm>
          <a:prstGeom prst="roundRect">
            <a:avLst>
              <a:gd name="adj" fmla="val 5814"/>
            </a:avLst>
          </a:prstGeom>
          <a:solidFill>
            <a:srgbClr val="F0F5FB"/>
          </a:solidFill>
          <a:ln/>
          <a:effectLst>
            <a:outerShdw blurRad="101600" dist="38100" dir="2700000" algn="bl" rotWithShape="0">
              <a:srgbClr val="000000">
                <a:alpha val="12000"/>
              </a:srgbClr>
            </a:outerShdw>
          </a:effectLst>
        </p:spPr>
      </p:sp>
      <p:sp>
        <p:nvSpPr>
          <p:cNvPr id="26" name="Shape 24"/>
          <p:cNvSpPr/>
          <p:nvPr/>
        </p:nvSpPr>
        <p:spPr>
          <a:xfrm>
            <a:off x="5029200" y="1563624"/>
            <a:ext cx="365760" cy="365760"/>
          </a:xfrm>
          <a:prstGeom prst="ellipse">
            <a:avLst/>
          </a:prstGeom>
          <a:solidFill>
            <a:srgbClr val="E8543A"/>
          </a:solidFill>
          <a:ln w="12700">
            <a:solidFill>
              <a:srgbClr val="E8543A"/>
            </a:solidFill>
            <a:prstDash val="solid"/>
          </a:ln>
        </p:spPr>
      </p:sp>
      <p:sp>
        <p:nvSpPr>
          <p:cNvPr id="27" name="Text 25"/>
          <p:cNvSpPr/>
          <p:nvPr/>
        </p:nvSpPr>
        <p:spPr>
          <a:xfrm>
            <a:off x="5029200" y="1563624"/>
            <a:ext cx="365760" cy="365760"/>
          </a:xfrm>
          <a:prstGeom prst="rect">
            <a:avLst/>
          </a:prstGeom>
          <a:noFill/>
          <a:ln/>
        </p:spPr>
        <p:txBody>
          <a:bodyPr wrap="square" rtlCol="0" anchor="ctr"/>
          <a:lstStyle/>
          <a:p>
            <a:pPr marL="0" indent="0" algn="ctr">
              <a:lnSpc>
                <a:spcPct val="150000"/>
              </a:lnSpc>
              <a:buNone/>
            </a:pPr>
            <a:r>
              <a:rPr lang="en-US" sz="900" b="1" dirty="0">
                <a:solidFill>
                  <a:srgbClr val="FFFFFF"/>
                </a:solidFill>
                <a:latin typeface="Arial" pitchFamily="34" charset="0"/>
                <a:ea typeface="Arial" pitchFamily="34" charset="-122"/>
                <a:cs typeface="Arial" pitchFamily="34" charset="-120"/>
              </a:rPr>
              <a:t>Q6</a:t>
            </a:r>
            <a:endParaRPr lang="en-US" sz="900" dirty="0"/>
          </a:p>
        </p:txBody>
      </p:sp>
      <p:sp>
        <p:nvSpPr>
          <p:cNvPr id="28" name="Text 26"/>
          <p:cNvSpPr/>
          <p:nvPr/>
        </p:nvSpPr>
        <p:spPr>
          <a:xfrm>
            <a:off x="5486400" y="1581912"/>
            <a:ext cx="3200400" cy="274320"/>
          </a:xfrm>
          <a:prstGeom prst="rect">
            <a:avLst/>
          </a:prstGeom>
          <a:noFill/>
          <a:ln/>
        </p:spPr>
        <p:txBody>
          <a:bodyPr wrap="square" rtlCol="0" anchor="ctr"/>
          <a:lstStyle/>
          <a:p>
            <a:pPr marL="0" indent="0">
              <a:lnSpc>
                <a:spcPct val="150000"/>
              </a:lnSpc>
              <a:buNone/>
            </a:pPr>
            <a:r>
              <a:rPr lang="en-US" sz="1400" b="1" dirty="0">
                <a:solidFill>
                  <a:srgbClr val="E8543A"/>
                </a:solidFill>
                <a:latin typeface="Arial" pitchFamily="34" charset="0"/>
                <a:ea typeface="Arial" pitchFamily="34" charset="-122"/>
                <a:cs typeface="Arial" pitchFamily="34" charset="-120"/>
              </a:rPr>
              <a:t>Hồi Quy (Regression)</a:t>
            </a:r>
            <a:endParaRPr lang="en-US" sz="1400" dirty="0"/>
          </a:p>
        </p:txBody>
      </p:sp>
      <p:sp>
        <p:nvSpPr>
          <p:cNvPr id="29" name="Text 27"/>
          <p:cNvSpPr/>
          <p:nvPr/>
        </p:nvSpPr>
        <p:spPr>
          <a:xfrm>
            <a:off x="5029200" y="1965960"/>
            <a:ext cx="3657600" cy="868680"/>
          </a:xfrm>
          <a:prstGeom prst="rect">
            <a:avLst/>
          </a:prstGeom>
          <a:noFill/>
          <a:ln/>
        </p:spPr>
        <p:txBody>
          <a:bodyPr wrap="square" rtlCol="0" anchor="t"/>
          <a:lstStyle/>
          <a:p>
            <a:pPr marL="0" indent="0" algn="l">
              <a:lnSpc>
                <a:spcPct val="150000"/>
              </a:lnSpc>
              <a:buNone/>
            </a:pPr>
            <a:r>
              <a:rPr lang="en-US" sz="1200" dirty="0">
                <a:solidFill>
                  <a:srgbClr val="444444"/>
                </a:solidFill>
                <a:latin typeface="Arial" pitchFamily="34" charset="0"/>
                <a:ea typeface="Arial" pitchFamily="34" charset="-122"/>
                <a:cs typeface="Arial" pitchFamily="34" charset="-120"/>
              </a:rPr>
              <a:t>Khả năng dự đoán doanh số toàn cầu dựa trên cấu trúc các biến phi tuyến như Genre, Platform và Year?</a:t>
            </a:r>
            <a:endParaRPr lang="en-US" sz="1200" dirty="0"/>
          </a:p>
        </p:txBody>
      </p:sp>
      <p:sp>
        <p:nvSpPr>
          <p:cNvPr id="30" name="Shape 28"/>
          <p:cNvSpPr/>
          <p:nvPr/>
        </p:nvSpPr>
        <p:spPr>
          <a:xfrm>
            <a:off x="4892040" y="3200400"/>
            <a:ext cx="3913632" cy="1572768"/>
          </a:xfrm>
          <a:prstGeom prst="roundRect">
            <a:avLst>
              <a:gd name="adj" fmla="val 5814"/>
            </a:avLst>
          </a:prstGeom>
          <a:solidFill>
            <a:srgbClr val="F0F5FB"/>
          </a:solidFill>
          <a:ln/>
          <a:effectLst>
            <a:outerShdw blurRad="101600" dist="38100" dir="2700000" algn="bl" rotWithShape="0">
              <a:srgbClr val="000000">
                <a:alpha val="12000"/>
              </a:srgbClr>
            </a:outerShdw>
          </a:effectLst>
        </p:spPr>
      </p:sp>
      <p:sp>
        <p:nvSpPr>
          <p:cNvPr id="31" name="Shape 29"/>
          <p:cNvSpPr/>
          <p:nvPr/>
        </p:nvSpPr>
        <p:spPr>
          <a:xfrm>
            <a:off x="5029200" y="3346704"/>
            <a:ext cx="365760" cy="365760"/>
          </a:xfrm>
          <a:prstGeom prst="ellipse">
            <a:avLst/>
          </a:prstGeom>
          <a:solidFill>
            <a:srgbClr val="E8543A"/>
          </a:solidFill>
          <a:ln w="12700">
            <a:solidFill>
              <a:srgbClr val="E8543A"/>
            </a:solidFill>
            <a:prstDash val="solid"/>
          </a:ln>
        </p:spPr>
      </p:sp>
      <p:sp>
        <p:nvSpPr>
          <p:cNvPr id="32" name="Text 30"/>
          <p:cNvSpPr/>
          <p:nvPr/>
        </p:nvSpPr>
        <p:spPr>
          <a:xfrm>
            <a:off x="5029200" y="3346704"/>
            <a:ext cx="365760" cy="365760"/>
          </a:xfrm>
          <a:prstGeom prst="rect">
            <a:avLst/>
          </a:prstGeom>
          <a:noFill/>
          <a:ln/>
        </p:spPr>
        <p:txBody>
          <a:bodyPr wrap="square" rtlCol="0" anchor="ctr"/>
          <a:lstStyle/>
          <a:p>
            <a:pPr marL="0" indent="0" algn="ctr">
              <a:lnSpc>
                <a:spcPct val="150000"/>
              </a:lnSpc>
              <a:buNone/>
            </a:pPr>
            <a:r>
              <a:rPr lang="en-US" sz="900" b="1" dirty="0">
                <a:solidFill>
                  <a:srgbClr val="FFFFFF"/>
                </a:solidFill>
                <a:latin typeface="Arial" pitchFamily="34" charset="0"/>
                <a:ea typeface="Arial" pitchFamily="34" charset="-122"/>
                <a:cs typeface="Arial" pitchFamily="34" charset="-120"/>
              </a:rPr>
              <a:t>Q7</a:t>
            </a:r>
            <a:endParaRPr lang="en-US" sz="900" dirty="0"/>
          </a:p>
        </p:txBody>
      </p:sp>
      <p:sp>
        <p:nvSpPr>
          <p:cNvPr id="33" name="Text 31"/>
          <p:cNvSpPr/>
          <p:nvPr/>
        </p:nvSpPr>
        <p:spPr>
          <a:xfrm>
            <a:off x="5486400" y="3364992"/>
            <a:ext cx="3200400" cy="274320"/>
          </a:xfrm>
          <a:prstGeom prst="rect">
            <a:avLst/>
          </a:prstGeom>
          <a:noFill/>
          <a:ln/>
        </p:spPr>
        <p:txBody>
          <a:bodyPr wrap="square" rtlCol="0" anchor="ctr"/>
          <a:lstStyle/>
          <a:p>
            <a:pPr marL="0" indent="0">
              <a:lnSpc>
                <a:spcPct val="150000"/>
              </a:lnSpc>
              <a:buNone/>
            </a:pPr>
            <a:r>
              <a:rPr lang="en-US" sz="1400" b="1" dirty="0">
                <a:solidFill>
                  <a:srgbClr val="E8543A"/>
                </a:solidFill>
                <a:latin typeface="Arial" pitchFamily="34" charset="0"/>
                <a:ea typeface="Arial" pitchFamily="34" charset="-122"/>
                <a:cs typeface="Arial" pitchFamily="34" charset="-120"/>
              </a:rPr>
              <a:t>Phân Cụm (Clustering)</a:t>
            </a:r>
            <a:endParaRPr lang="en-US" sz="1400" dirty="0"/>
          </a:p>
        </p:txBody>
      </p:sp>
      <p:sp>
        <p:nvSpPr>
          <p:cNvPr id="34" name="Text 32"/>
          <p:cNvSpPr/>
          <p:nvPr/>
        </p:nvSpPr>
        <p:spPr>
          <a:xfrm>
            <a:off x="5029200" y="3749040"/>
            <a:ext cx="3657600" cy="868680"/>
          </a:xfrm>
          <a:prstGeom prst="rect">
            <a:avLst/>
          </a:prstGeom>
          <a:noFill/>
          <a:ln/>
        </p:spPr>
        <p:txBody>
          <a:bodyPr wrap="square" rtlCol="0" anchor="t"/>
          <a:lstStyle/>
          <a:p>
            <a:pPr marL="0" indent="0" algn="l">
              <a:lnSpc>
                <a:spcPct val="150000"/>
              </a:lnSpc>
              <a:buNone/>
            </a:pPr>
            <a:r>
              <a:rPr lang="vi-VN" sz="1200">
                <a:solidFill>
                  <a:srgbClr val="444444"/>
                </a:solidFill>
                <a:latin typeface="Arial" pitchFamily="34" charset="0"/>
                <a:ea typeface="Arial" pitchFamily="34" charset="-122"/>
                <a:cs typeface="Arial" pitchFamily="34" charset="-120"/>
              </a:rPr>
              <a:t>Có thể phân cụm các trò chơi thành các nhóm thành công tương tự nhau dựa trên doanh số và đặc điểm phát hành hay không?</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182880"/>
            <a:ext cx="8412480" cy="548640"/>
          </a:xfrm>
          <a:prstGeom prst="rect">
            <a:avLst/>
          </a:prstGeom>
          <a:noFill/>
          <a:ln/>
        </p:spPr>
        <p:txBody>
          <a:bodyPr wrap="square" rtlCol="0" anchor="ctr"/>
          <a:lstStyle/>
          <a:p>
            <a:pPr marL="0" indent="0">
              <a:buNone/>
            </a:pPr>
            <a:r>
              <a:rPr lang="en-US" sz="3200" b="1">
                <a:solidFill>
                  <a:srgbClr val="1A2C5B"/>
                </a:solidFill>
              </a:rPr>
              <a:t>Quy </a:t>
            </a:r>
            <a:r>
              <a:rPr lang="en-US" sz="3200" b="1" dirty="0">
                <a:solidFill>
                  <a:srgbClr val="1A2C5B"/>
                </a:solidFill>
              </a:rPr>
              <a:t>Trình Thực Hiện</a:t>
            </a:r>
            <a:endParaRPr lang="en-US" sz="3200" dirty="0"/>
          </a:p>
        </p:txBody>
      </p:sp>
      <p:sp>
        <p:nvSpPr>
          <p:cNvPr id="3" name="Shape 1"/>
          <p:cNvSpPr/>
          <p:nvPr/>
        </p:nvSpPr>
        <p:spPr>
          <a:xfrm>
            <a:off x="1828800" y="1417320"/>
            <a:ext cx="201168" cy="73152"/>
          </a:xfrm>
          <a:prstGeom prst="rect">
            <a:avLst/>
          </a:prstGeom>
          <a:solidFill>
            <a:srgbClr val="2D6A9F"/>
          </a:solidFill>
          <a:ln w="12700">
            <a:solidFill>
              <a:srgbClr val="2D6A9F"/>
            </a:solidFill>
            <a:prstDash val="solid"/>
          </a:ln>
        </p:spPr>
      </p:sp>
      <p:sp>
        <p:nvSpPr>
          <p:cNvPr id="4" name="Shape 2"/>
          <p:cNvSpPr/>
          <p:nvPr/>
        </p:nvSpPr>
        <p:spPr>
          <a:xfrm>
            <a:off x="320040" y="1005840"/>
            <a:ext cx="1508760" cy="1554480"/>
          </a:xfrm>
          <a:prstGeom prst="roundRect">
            <a:avLst>
              <a:gd name="adj" fmla="val 6061"/>
            </a:avLst>
          </a:prstGeom>
          <a:solidFill>
            <a:srgbClr val="FFFFFF"/>
          </a:solidFill>
          <a:ln/>
          <a:effectLst>
            <a:outerShdw blurRad="101600" dist="38100" dir="2700000" algn="bl" rotWithShape="0">
              <a:srgbClr val="000000">
                <a:alpha val="12000"/>
              </a:srgbClr>
            </a:outerShdw>
          </a:effectLst>
        </p:spPr>
      </p:sp>
      <p:sp>
        <p:nvSpPr>
          <p:cNvPr id="5" name="Shape 3"/>
          <p:cNvSpPr/>
          <p:nvPr/>
        </p:nvSpPr>
        <p:spPr>
          <a:xfrm>
            <a:off x="868680" y="1051560"/>
            <a:ext cx="411480" cy="411480"/>
          </a:xfrm>
          <a:prstGeom prst="ellipse">
            <a:avLst/>
          </a:prstGeom>
          <a:solidFill>
            <a:srgbClr val="2D6A9F"/>
          </a:solidFill>
          <a:ln w="12700">
            <a:solidFill>
              <a:srgbClr val="2D6A9F"/>
            </a:solidFill>
            <a:prstDash val="solid"/>
          </a:ln>
        </p:spPr>
      </p:sp>
      <p:sp>
        <p:nvSpPr>
          <p:cNvPr id="6" name="Text 4"/>
          <p:cNvSpPr/>
          <p:nvPr/>
        </p:nvSpPr>
        <p:spPr>
          <a:xfrm>
            <a:off x="850392" y="1042416"/>
            <a:ext cx="457200" cy="429768"/>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7" name="Text 5"/>
          <p:cNvSpPr/>
          <p:nvPr/>
        </p:nvSpPr>
        <p:spPr>
          <a:xfrm>
            <a:off x="320040" y="1554480"/>
            <a:ext cx="1508760" cy="320040"/>
          </a:xfrm>
          <a:prstGeom prst="rect">
            <a:avLst/>
          </a:prstGeom>
          <a:noFill/>
          <a:ln/>
        </p:spPr>
        <p:txBody>
          <a:bodyPr wrap="square" rtlCol="0" anchor="ctr"/>
          <a:lstStyle/>
          <a:p>
            <a:pPr marL="0" indent="0" algn="ctr">
              <a:buNone/>
            </a:pPr>
            <a:r>
              <a:rPr lang="en-US" sz="1600" b="1" dirty="0">
                <a:solidFill>
                  <a:srgbClr val="1A2C5B"/>
                </a:solidFill>
              </a:rPr>
              <a:t>Thu Thập</a:t>
            </a:r>
            <a:endParaRPr lang="en-US" sz="1600" dirty="0"/>
          </a:p>
        </p:txBody>
      </p:sp>
      <p:sp>
        <p:nvSpPr>
          <p:cNvPr id="8" name="Text 6"/>
          <p:cNvSpPr/>
          <p:nvPr/>
        </p:nvSpPr>
        <p:spPr>
          <a:xfrm>
            <a:off x="320040" y="1865376"/>
            <a:ext cx="1508760" cy="548640"/>
          </a:xfrm>
          <a:prstGeom prst="rect">
            <a:avLst/>
          </a:prstGeom>
          <a:noFill/>
          <a:ln/>
        </p:spPr>
        <p:txBody>
          <a:bodyPr wrap="square" rtlCol="0" anchor="ctr"/>
          <a:lstStyle/>
          <a:p>
            <a:pPr marL="0" indent="0" algn="ctr">
              <a:buNone/>
            </a:pPr>
            <a:r>
              <a:rPr lang="en-US" sz="1400" dirty="0">
                <a:solidFill>
                  <a:srgbClr val="64748B"/>
                </a:solidFill>
              </a:rPr>
              <a:t>Video Game Sales CSV</a:t>
            </a:r>
            <a:endParaRPr lang="en-US" sz="1400" dirty="0"/>
          </a:p>
        </p:txBody>
      </p:sp>
      <p:sp>
        <p:nvSpPr>
          <p:cNvPr id="9" name="Shape 7"/>
          <p:cNvSpPr/>
          <p:nvPr/>
        </p:nvSpPr>
        <p:spPr>
          <a:xfrm>
            <a:off x="3547872" y="1417320"/>
            <a:ext cx="201168" cy="73152"/>
          </a:xfrm>
          <a:prstGeom prst="rect">
            <a:avLst/>
          </a:prstGeom>
          <a:solidFill>
            <a:srgbClr val="2D6A9F"/>
          </a:solidFill>
          <a:ln w="12700">
            <a:solidFill>
              <a:srgbClr val="2D6A9F"/>
            </a:solidFill>
            <a:prstDash val="solid"/>
          </a:ln>
        </p:spPr>
      </p:sp>
      <p:sp>
        <p:nvSpPr>
          <p:cNvPr id="10" name="Shape 8"/>
          <p:cNvSpPr/>
          <p:nvPr/>
        </p:nvSpPr>
        <p:spPr>
          <a:xfrm>
            <a:off x="2039112" y="1005840"/>
            <a:ext cx="1508760" cy="1554480"/>
          </a:xfrm>
          <a:prstGeom prst="roundRect">
            <a:avLst>
              <a:gd name="adj" fmla="val 6061"/>
            </a:avLst>
          </a:prstGeom>
          <a:solidFill>
            <a:srgbClr val="FFFFFF"/>
          </a:solidFill>
          <a:ln/>
          <a:effectLst>
            <a:outerShdw blurRad="101600" dist="38100" dir="2700000" algn="bl" rotWithShape="0">
              <a:srgbClr val="000000">
                <a:alpha val="12000"/>
              </a:srgbClr>
            </a:outerShdw>
          </a:effectLst>
        </p:spPr>
      </p:sp>
      <p:sp>
        <p:nvSpPr>
          <p:cNvPr id="11" name="Shape 9"/>
          <p:cNvSpPr/>
          <p:nvPr/>
        </p:nvSpPr>
        <p:spPr>
          <a:xfrm>
            <a:off x="2587752" y="1051560"/>
            <a:ext cx="411480" cy="411480"/>
          </a:xfrm>
          <a:prstGeom prst="ellipse">
            <a:avLst/>
          </a:prstGeom>
          <a:solidFill>
            <a:srgbClr val="2D6A9F"/>
          </a:solidFill>
          <a:ln w="12700">
            <a:solidFill>
              <a:srgbClr val="2D6A9F"/>
            </a:solidFill>
            <a:prstDash val="solid"/>
          </a:ln>
        </p:spPr>
      </p:sp>
      <p:sp>
        <p:nvSpPr>
          <p:cNvPr id="12" name="Text 10"/>
          <p:cNvSpPr/>
          <p:nvPr/>
        </p:nvSpPr>
        <p:spPr>
          <a:xfrm>
            <a:off x="2569464" y="1042416"/>
            <a:ext cx="457200" cy="429768"/>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13" name="Text 11"/>
          <p:cNvSpPr/>
          <p:nvPr/>
        </p:nvSpPr>
        <p:spPr>
          <a:xfrm>
            <a:off x="2039112" y="1554480"/>
            <a:ext cx="1508760" cy="320040"/>
          </a:xfrm>
          <a:prstGeom prst="rect">
            <a:avLst/>
          </a:prstGeom>
          <a:noFill/>
          <a:ln/>
        </p:spPr>
        <p:txBody>
          <a:bodyPr wrap="square" rtlCol="0" anchor="ctr"/>
          <a:lstStyle/>
          <a:p>
            <a:pPr marL="0" indent="0" algn="ctr">
              <a:buNone/>
            </a:pPr>
            <a:r>
              <a:rPr lang="en-US" sz="1600" b="1" dirty="0">
                <a:solidFill>
                  <a:srgbClr val="1A2C5B"/>
                </a:solidFill>
              </a:rPr>
              <a:t>Làm Sạch</a:t>
            </a:r>
            <a:endParaRPr lang="en-US" sz="1600" dirty="0"/>
          </a:p>
        </p:txBody>
      </p:sp>
      <p:sp>
        <p:nvSpPr>
          <p:cNvPr id="14" name="Text 12"/>
          <p:cNvSpPr/>
          <p:nvPr/>
        </p:nvSpPr>
        <p:spPr>
          <a:xfrm>
            <a:off x="2039112" y="1865376"/>
            <a:ext cx="1508760" cy="548640"/>
          </a:xfrm>
          <a:prstGeom prst="rect">
            <a:avLst/>
          </a:prstGeom>
          <a:noFill/>
          <a:ln/>
        </p:spPr>
        <p:txBody>
          <a:bodyPr wrap="square" rtlCol="0" anchor="ctr"/>
          <a:lstStyle/>
          <a:p>
            <a:pPr marL="0" indent="0" algn="ctr">
              <a:buNone/>
            </a:pPr>
            <a:r>
              <a:rPr lang="en-US" sz="1400" dirty="0">
                <a:solidFill>
                  <a:srgbClr val="64748B"/>
                </a:solidFill>
              </a:rPr>
              <a:t>Xử lý null, encode</a:t>
            </a:r>
            <a:endParaRPr lang="en-US" sz="1400" dirty="0"/>
          </a:p>
        </p:txBody>
      </p:sp>
      <p:sp>
        <p:nvSpPr>
          <p:cNvPr id="15" name="Shape 13"/>
          <p:cNvSpPr/>
          <p:nvPr/>
        </p:nvSpPr>
        <p:spPr>
          <a:xfrm>
            <a:off x="5266944" y="1417320"/>
            <a:ext cx="201168" cy="73152"/>
          </a:xfrm>
          <a:prstGeom prst="rect">
            <a:avLst/>
          </a:prstGeom>
          <a:solidFill>
            <a:srgbClr val="2D6A9F"/>
          </a:solidFill>
          <a:ln w="12700">
            <a:solidFill>
              <a:srgbClr val="2D6A9F"/>
            </a:solidFill>
            <a:prstDash val="solid"/>
          </a:ln>
        </p:spPr>
      </p:sp>
      <p:sp>
        <p:nvSpPr>
          <p:cNvPr id="16" name="Shape 14"/>
          <p:cNvSpPr/>
          <p:nvPr/>
        </p:nvSpPr>
        <p:spPr>
          <a:xfrm>
            <a:off x="3758184" y="1005840"/>
            <a:ext cx="1508760" cy="1554480"/>
          </a:xfrm>
          <a:prstGeom prst="roundRect">
            <a:avLst>
              <a:gd name="adj" fmla="val 6061"/>
            </a:avLst>
          </a:prstGeom>
          <a:solidFill>
            <a:srgbClr val="FFFFFF"/>
          </a:solidFill>
          <a:ln/>
          <a:effectLst>
            <a:outerShdw blurRad="101600" dist="38100" dir="2700000" algn="bl" rotWithShape="0">
              <a:srgbClr val="000000">
                <a:alpha val="12000"/>
              </a:srgbClr>
            </a:outerShdw>
          </a:effectLst>
        </p:spPr>
      </p:sp>
      <p:sp>
        <p:nvSpPr>
          <p:cNvPr id="17" name="Shape 15"/>
          <p:cNvSpPr/>
          <p:nvPr/>
        </p:nvSpPr>
        <p:spPr>
          <a:xfrm>
            <a:off x="4306824" y="1051560"/>
            <a:ext cx="411480" cy="411480"/>
          </a:xfrm>
          <a:prstGeom prst="ellipse">
            <a:avLst/>
          </a:prstGeom>
          <a:solidFill>
            <a:srgbClr val="2D6A9F"/>
          </a:solidFill>
          <a:ln w="12700">
            <a:solidFill>
              <a:srgbClr val="2D6A9F"/>
            </a:solidFill>
            <a:prstDash val="solid"/>
          </a:ln>
        </p:spPr>
      </p:sp>
      <p:sp>
        <p:nvSpPr>
          <p:cNvPr id="18" name="Text 16"/>
          <p:cNvSpPr/>
          <p:nvPr/>
        </p:nvSpPr>
        <p:spPr>
          <a:xfrm>
            <a:off x="4288536" y="1042416"/>
            <a:ext cx="457200" cy="429768"/>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19" name="Text 17"/>
          <p:cNvSpPr/>
          <p:nvPr/>
        </p:nvSpPr>
        <p:spPr>
          <a:xfrm>
            <a:off x="3758184" y="1554480"/>
            <a:ext cx="1508760" cy="320040"/>
          </a:xfrm>
          <a:prstGeom prst="rect">
            <a:avLst/>
          </a:prstGeom>
          <a:noFill/>
          <a:ln/>
        </p:spPr>
        <p:txBody>
          <a:bodyPr wrap="square" rtlCol="0" anchor="ctr"/>
          <a:lstStyle/>
          <a:p>
            <a:pPr marL="0" indent="0" algn="ctr">
              <a:buNone/>
            </a:pPr>
            <a:r>
              <a:rPr lang="en-US" sz="1600" b="1" dirty="0">
                <a:solidFill>
                  <a:srgbClr val="1A2C5B"/>
                </a:solidFill>
              </a:rPr>
              <a:t>EDA</a:t>
            </a:r>
            <a:endParaRPr lang="en-US" sz="1600" dirty="0"/>
          </a:p>
        </p:txBody>
      </p:sp>
      <p:sp>
        <p:nvSpPr>
          <p:cNvPr id="20" name="Text 18"/>
          <p:cNvSpPr/>
          <p:nvPr/>
        </p:nvSpPr>
        <p:spPr>
          <a:xfrm>
            <a:off x="3758184" y="1865376"/>
            <a:ext cx="1508760" cy="548640"/>
          </a:xfrm>
          <a:prstGeom prst="rect">
            <a:avLst/>
          </a:prstGeom>
          <a:noFill/>
          <a:ln/>
        </p:spPr>
        <p:txBody>
          <a:bodyPr wrap="square" rtlCol="0" anchor="ctr"/>
          <a:lstStyle/>
          <a:p>
            <a:pPr marL="0" indent="0" algn="ctr">
              <a:buNone/>
            </a:pPr>
            <a:r>
              <a:rPr lang="en-US" sz="1400" dirty="0">
                <a:solidFill>
                  <a:srgbClr val="64748B"/>
                </a:solidFill>
              </a:rPr>
              <a:t>5 câu hỏi phân tích</a:t>
            </a:r>
            <a:endParaRPr lang="en-US" sz="1400" dirty="0"/>
          </a:p>
        </p:txBody>
      </p:sp>
      <p:sp>
        <p:nvSpPr>
          <p:cNvPr id="21" name="Shape 19"/>
          <p:cNvSpPr/>
          <p:nvPr/>
        </p:nvSpPr>
        <p:spPr>
          <a:xfrm>
            <a:off x="6986016" y="1417320"/>
            <a:ext cx="201168" cy="73152"/>
          </a:xfrm>
          <a:prstGeom prst="rect">
            <a:avLst/>
          </a:prstGeom>
          <a:solidFill>
            <a:srgbClr val="2D6A9F"/>
          </a:solidFill>
          <a:ln w="12700">
            <a:solidFill>
              <a:srgbClr val="2D6A9F"/>
            </a:solidFill>
            <a:prstDash val="solid"/>
          </a:ln>
        </p:spPr>
      </p:sp>
      <p:sp>
        <p:nvSpPr>
          <p:cNvPr id="22" name="Shape 20"/>
          <p:cNvSpPr/>
          <p:nvPr/>
        </p:nvSpPr>
        <p:spPr>
          <a:xfrm>
            <a:off x="5477256" y="1005840"/>
            <a:ext cx="1508760" cy="1554480"/>
          </a:xfrm>
          <a:prstGeom prst="roundRect">
            <a:avLst>
              <a:gd name="adj" fmla="val 6061"/>
            </a:avLst>
          </a:prstGeom>
          <a:solidFill>
            <a:srgbClr val="FFFFFF"/>
          </a:solidFill>
          <a:ln/>
          <a:effectLst>
            <a:outerShdw blurRad="101600" dist="38100" dir="2700000" algn="bl" rotWithShape="0">
              <a:srgbClr val="000000">
                <a:alpha val="12000"/>
              </a:srgbClr>
            </a:outerShdw>
          </a:effectLst>
        </p:spPr>
      </p:sp>
      <p:sp>
        <p:nvSpPr>
          <p:cNvPr id="23" name="Shape 21"/>
          <p:cNvSpPr/>
          <p:nvPr/>
        </p:nvSpPr>
        <p:spPr>
          <a:xfrm>
            <a:off x="6025896" y="1051560"/>
            <a:ext cx="411480" cy="411480"/>
          </a:xfrm>
          <a:prstGeom prst="ellipse">
            <a:avLst/>
          </a:prstGeom>
          <a:solidFill>
            <a:srgbClr val="2D6A9F"/>
          </a:solidFill>
          <a:ln w="12700">
            <a:solidFill>
              <a:srgbClr val="2D6A9F"/>
            </a:solidFill>
            <a:prstDash val="solid"/>
          </a:ln>
        </p:spPr>
      </p:sp>
      <p:sp>
        <p:nvSpPr>
          <p:cNvPr id="24" name="Text 22"/>
          <p:cNvSpPr/>
          <p:nvPr/>
        </p:nvSpPr>
        <p:spPr>
          <a:xfrm>
            <a:off x="6007608" y="1042416"/>
            <a:ext cx="457200" cy="429768"/>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25" name="Text 23"/>
          <p:cNvSpPr/>
          <p:nvPr/>
        </p:nvSpPr>
        <p:spPr>
          <a:xfrm>
            <a:off x="5477256" y="1554480"/>
            <a:ext cx="1508760" cy="320040"/>
          </a:xfrm>
          <a:prstGeom prst="rect">
            <a:avLst/>
          </a:prstGeom>
          <a:noFill/>
          <a:ln/>
        </p:spPr>
        <p:txBody>
          <a:bodyPr wrap="square" rtlCol="0" anchor="ctr"/>
          <a:lstStyle/>
          <a:p>
            <a:pPr marL="0" indent="0" algn="ctr">
              <a:buNone/>
            </a:pPr>
            <a:r>
              <a:rPr lang="en-US" sz="1600" b="1">
                <a:solidFill>
                  <a:srgbClr val="1A2C5B"/>
                </a:solidFill>
              </a:rPr>
              <a:t>Mô Hình hóa</a:t>
            </a:r>
            <a:endParaRPr lang="en-US" sz="1600" dirty="0"/>
          </a:p>
        </p:txBody>
      </p:sp>
      <p:sp>
        <p:nvSpPr>
          <p:cNvPr id="26" name="Text 24"/>
          <p:cNvSpPr/>
          <p:nvPr/>
        </p:nvSpPr>
        <p:spPr>
          <a:xfrm>
            <a:off x="5477256" y="1865376"/>
            <a:ext cx="1508760" cy="548640"/>
          </a:xfrm>
          <a:prstGeom prst="rect">
            <a:avLst/>
          </a:prstGeom>
          <a:noFill/>
          <a:ln/>
        </p:spPr>
        <p:txBody>
          <a:bodyPr wrap="square" rtlCol="0" anchor="ctr"/>
          <a:lstStyle/>
          <a:p>
            <a:pPr marL="0" indent="0" algn="ctr">
              <a:buNone/>
            </a:pPr>
            <a:r>
              <a:rPr lang="en-US" sz="1400">
                <a:solidFill>
                  <a:srgbClr val="64748B"/>
                </a:solidFill>
              </a:rPr>
              <a:t>Thiết lập hồi quy Ensemble và phân cụm K-Means.</a:t>
            </a:r>
          </a:p>
        </p:txBody>
      </p:sp>
      <p:sp>
        <p:nvSpPr>
          <p:cNvPr id="27" name="Shape 25"/>
          <p:cNvSpPr/>
          <p:nvPr/>
        </p:nvSpPr>
        <p:spPr>
          <a:xfrm>
            <a:off x="7196328" y="1005840"/>
            <a:ext cx="1508760" cy="1554480"/>
          </a:xfrm>
          <a:prstGeom prst="roundRect">
            <a:avLst>
              <a:gd name="adj" fmla="val 6061"/>
            </a:avLst>
          </a:prstGeom>
          <a:solidFill>
            <a:srgbClr val="FFFFFF"/>
          </a:solidFill>
          <a:ln/>
          <a:effectLst>
            <a:outerShdw blurRad="101600" dist="38100" dir="2700000" algn="bl" rotWithShape="0">
              <a:srgbClr val="000000">
                <a:alpha val="12000"/>
              </a:srgbClr>
            </a:outerShdw>
          </a:effectLst>
        </p:spPr>
      </p:sp>
      <p:sp>
        <p:nvSpPr>
          <p:cNvPr id="28" name="Shape 26"/>
          <p:cNvSpPr/>
          <p:nvPr/>
        </p:nvSpPr>
        <p:spPr>
          <a:xfrm>
            <a:off x="7744968" y="1051560"/>
            <a:ext cx="411480" cy="411480"/>
          </a:xfrm>
          <a:prstGeom prst="ellipse">
            <a:avLst/>
          </a:prstGeom>
          <a:solidFill>
            <a:srgbClr val="2D6A9F"/>
          </a:solidFill>
          <a:ln w="12700">
            <a:solidFill>
              <a:srgbClr val="2D6A9F"/>
            </a:solidFill>
            <a:prstDash val="solid"/>
          </a:ln>
        </p:spPr>
      </p:sp>
      <p:sp>
        <p:nvSpPr>
          <p:cNvPr id="29" name="Text 27"/>
          <p:cNvSpPr/>
          <p:nvPr/>
        </p:nvSpPr>
        <p:spPr>
          <a:xfrm>
            <a:off x="7726680" y="1042416"/>
            <a:ext cx="457200" cy="429768"/>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30" name="Text 28"/>
          <p:cNvSpPr/>
          <p:nvPr/>
        </p:nvSpPr>
        <p:spPr>
          <a:xfrm>
            <a:off x="7196328" y="1554480"/>
            <a:ext cx="1508760" cy="320040"/>
          </a:xfrm>
          <a:prstGeom prst="rect">
            <a:avLst/>
          </a:prstGeom>
          <a:noFill/>
          <a:ln/>
        </p:spPr>
        <p:txBody>
          <a:bodyPr wrap="square" rtlCol="0" anchor="ctr"/>
          <a:lstStyle/>
          <a:p>
            <a:pPr marL="0" indent="0" algn="ctr">
              <a:buNone/>
            </a:pPr>
            <a:r>
              <a:rPr lang="en-US" sz="1600" b="1" dirty="0">
                <a:solidFill>
                  <a:srgbClr val="1A2C5B"/>
                </a:solidFill>
              </a:rPr>
              <a:t>Đánh Giá</a:t>
            </a:r>
            <a:endParaRPr lang="en-US" sz="1600" dirty="0"/>
          </a:p>
        </p:txBody>
      </p:sp>
      <p:sp>
        <p:nvSpPr>
          <p:cNvPr id="31" name="Text 29"/>
          <p:cNvSpPr/>
          <p:nvPr/>
        </p:nvSpPr>
        <p:spPr>
          <a:xfrm>
            <a:off x="7196328" y="1865376"/>
            <a:ext cx="1508760" cy="548640"/>
          </a:xfrm>
          <a:prstGeom prst="rect">
            <a:avLst/>
          </a:prstGeom>
          <a:noFill/>
          <a:ln/>
        </p:spPr>
        <p:txBody>
          <a:bodyPr wrap="square" rtlCol="0" anchor="ctr"/>
          <a:lstStyle/>
          <a:p>
            <a:pPr marL="0" indent="0" algn="ctr">
              <a:buNone/>
            </a:pPr>
            <a:r>
              <a:rPr lang="en-US" sz="1400" dirty="0">
                <a:solidFill>
                  <a:srgbClr val="64748B"/>
                </a:solidFill>
              </a:rPr>
              <a:t>R²</a:t>
            </a:r>
            <a:r>
              <a:rPr lang="en-US" sz="1400">
                <a:solidFill>
                  <a:srgbClr val="64748B"/>
                </a:solidFill>
              </a:rPr>
              <a:t>, RMSE</a:t>
            </a:r>
            <a:endParaRPr lang="en-US" sz="1400" dirty="0"/>
          </a:p>
        </p:txBody>
      </p:sp>
      <p:sp>
        <p:nvSpPr>
          <p:cNvPr id="32" name="Text 30"/>
          <p:cNvSpPr/>
          <p:nvPr/>
        </p:nvSpPr>
        <p:spPr>
          <a:xfrm>
            <a:off x="365760" y="2834640"/>
            <a:ext cx="8412480" cy="384048"/>
          </a:xfrm>
          <a:prstGeom prst="rect">
            <a:avLst/>
          </a:prstGeom>
          <a:noFill/>
          <a:ln/>
        </p:spPr>
        <p:txBody>
          <a:bodyPr wrap="square" rtlCol="0" anchor="ctr"/>
          <a:lstStyle/>
          <a:p>
            <a:pPr marL="0" indent="0">
              <a:buNone/>
            </a:pPr>
            <a:r>
              <a:rPr lang="en-US" sz="1600" b="1" dirty="0">
                <a:solidFill>
                  <a:srgbClr val="1A2C5B"/>
                </a:solidFill>
              </a:rPr>
              <a:t>Kỹ Thuật Sử Dụng</a:t>
            </a:r>
            <a:endParaRPr lang="en-US" sz="1600" dirty="0"/>
          </a:p>
        </p:txBody>
      </p:sp>
      <p:sp>
        <p:nvSpPr>
          <p:cNvPr id="33" name="Shape 31"/>
          <p:cNvSpPr/>
          <p:nvPr/>
        </p:nvSpPr>
        <p:spPr>
          <a:xfrm>
            <a:off x="365760" y="3337560"/>
            <a:ext cx="4114800" cy="566928"/>
          </a:xfrm>
          <a:prstGeom prst="roundRect">
            <a:avLst>
              <a:gd name="adj" fmla="val 12903"/>
            </a:avLst>
          </a:prstGeom>
          <a:solidFill>
            <a:srgbClr val="D9E8F5"/>
          </a:solidFill>
          <a:ln/>
        </p:spPr>
      </p:sp>
      <p:sp>
        <p:nvSpPr>
          <p:cNvPr id="34" name="Text 32"/>
          <p:cNvSpPr/>
          <p:nvPr/>
        </p:nvSpPr>
        <p:spPr>
          <a:xfrm>
            <a:off x="475488" y="3410712"/>
            <a:ext cx="3931920" cy="411480"/>
          </a:xfrm>
          <a:prstGeom prst="rect">
            <a:avLst/>
          </a:prstGeom>
          <a:noFill/>
          <a:ln/>
        </p:spPr>
        <p:txBody>
          <a:bodyPr wrap="square" rtlCol="0" anchor="ctr"/>
          <a:lstStyle/>
          <a:p>
            <a:pPr marL="0" indent="0">
              <a:buNone/>
            </a:pPr>
            <a:r>
              <a:rPr lang="en-US" sz="1400" b="1" dirty="0">
                <a:solidFill>
                  <a:srgbClr val="2D6A9F"/>
                </a:solidFill>
              </a:rPr>
              <a:t>🐍 Python  </a:t>
            </a:r>
            <a:r>
              <a:rPr lang="en-US" sz="1400" dirty="0">
                <a:solidFill>
                  <a:srgbClr val="1A2C5B"/>
                </a:solidFill>
              </a:rPr>
              <a:t>pandas, numpy, matplotlib, seaborn</a:t>
            </a:r>
            <a:endParaRPr lang="en-US" sz="1400" dirty="0"/>
          </a:p>
        </p:txBody>
      </p:sp>
      <p:sp>
        <p:nvSpPr>
          <p:cNvPr id="35" name="Shape 33"/>
          <p:cNvSpPr/>
          <p:nvPr/>
        </p:nvSpPr>
        <p:spPr>
          <a:xfrm>
            <a:off x="4663440" y="3337560"/>
            <a:ext cx="4114800" cy="566928"/>
          </a:xfrm>
          <a:prstGeom prst="roundRect">
            <a:avLst>
              <a:gd name="adj" fmla="val 12903"/>
            </a:avLst>
          </a:prstGeom>
          <a:solidFill>
            <a:srgbClr val="D9E8F5"/>
          </a:solidFill>
          <a:ln/>
        </p:spPr>
      </p:sp>
      <p:sp>
        <p:nvSpPr>
          <p:cNvPr id="36" name="Text 34"/>
          <p:cNvSpPr/>
          <p:nvPr/>
        </p:nvSpPr>
        <p:spPr>
          <a:xfrm>
            <a:off x="4773168" y="3410712"/>
            <a:ext cx="3931920" cy="411480"/>
          </a:xfrm>
          <a:prstGeom prst="rect">
            <a:avLst/>
          </a:prstGeom>
          <a:noFill/>
          <a:ln/>
        </p:spPr>
        <p:txBody>
          <a:bodyPr wrap="square" rtlCol="0" anchor="ctr"/>
          <a:lstStyle/>
          <a:p>
            <a:pPr marL="0" indent="0">
              <a:buNone/>
            </a:pPr>
            <a:r>
              <a:rPr lang="en-US" sz="1400" b="1" dirty="0">
                <a:solidFill>
                  <a:srgbClr val="2D6A9F"/>
                </a:solidFill>
              </a:rPr>
              <a:t>🤖 Machine Learning  </a:t>
            </a:r>
            <a:r>
              <a:rPr lang="en-US" sz="1400" dirty="0">
                <a:solidFill>
                  <a:srgbClr val="1A2C5B"/>
                </a:solidFill>
              </a:rPr>
              <a:t>LinearRegression, RandomForest, GradientBoosting (sklearn)</a:t>
            </a:r>
            <a:endParaRPr lang="en-US" sz="1400" dirty="0"/>
          </a:p>
        </p:txBody>
      </p:sp>
      <p:sp>
        <p:nvSpPr>
          <p:cNvPr id="37" name="Shape 35"/>
          <p:cNvSpPr/>
          <p:nvPr/>
        </p:nvSpPr>
        <p:spPr>
          <a:xfrm>
            <a:off x="365760" y="4023360"/>
            <a:ext cx="4114800" cy="566928"/>
          </a:xfrm>
          <a:prstGeom prst="roundRect">
            <a:avLst>
              <a:gd name="adj" fmla="val 12903"/>
            </a:avLst>
          </a:prstGeom>
          <a:solidFill>
            <a:srgbClr val="D9E8F5"/>
          </a:solidFill>
          <a:ln/>
        </p:spPr>
      </p:sp>
      <p:sp>
        <p:nvSpPr>
          <p:cNvPr id="38" name="Text 36"/>
          <p:cNvSpPr/>
          <p:nvPr/>
        </p:nvSpPr>
        <p:spPr>
          <a:xfrm>
            <a:off x="475488" y="4096512"/>
            <a:ext cx="3931920" cy="411480"/>
          </a:xfrm>
          <a:prstGeom prst="rect">
            <a:avLst/>
          </a:prstGeom>
          <a:noFill/>
          <a:ln/>
        </p:spPr>
        <p:txBody>
          <a:bodyPr wrap="square" rtlCol="0" anchor="ctr"/>
          <a:lstStyle/>
          <a:p>
            <a:pPr marL="0" indent="0">
              <a:buNone/>
            </a:pPr>
            <a:r>
              <a:rPr lang="en-US" sz="1400" b="1" dirty="0">
                <a:solidFill>
                  <a:srgbClr val="2D6A9F"/>
                </a:solidFill>
              </a:rPr>
              <a:t>🔵 Clustering  </a:t>
            </a:r>
            <a:r>
              <a:rPr lang="en-US" sz="1400" dirty="0">
                <a:solidFill>
                  <a:srgbClr val="1A2C5B"/>
                </a:solidFill>
              </a:rPr>
              <a:t>KMeans, PCA (sklearn)</a:t>
            </a:r>
            <a:endParaRPr lang="en-US" sz="1400" dirty="0"/>
          </a:p>
        </p:txBody>
      </p:sp>
      <p:sp>
        <p:nvSpPr>
          <p:cNvPr id="39" name="Shape 37"/>
          <p:cNvSpPr/>
          <p:nvPr/>
        </p:nvSpPr>
        <p:spPr>
          <a:xfrm>
            <a:off x="4663440" y="4023360"/>
            <a:ext cx="4114800" cy="566928"/>
          </a:xfrm>
          <a:prstGeom prst="roundRect">
            <a:avLst>
              <a:gd name="adj" fmla="val 12903"/>
            </a:avLst>
          </a:prstGeom>
          <a:solidFill>
            <a:srgbClr val="D9E8F5"/>
          </a:solidFill>
          <a:ln/>
        </p:spPr>
      </p:sp>
      <p:sp>
        <p:nvSpPr>
          <p:cNvPr id="40" name="Text 38"/>
          <p:cNvSpPr/>
          <p:nvPr/>
        </p:nvSpPr>
        <p:spPr>
          <a:xfrm>
            <a:off x="4773168" y="4096512"/>
            <a:ext cx="3931920" cy="411480"/>
          </a:xfrm>
          <a:prstGeom prst="rect">
            <a:avLst/>
          </a:prstGeom>
          <a:noFill/>
          <a:ln/>
        </p:spPr>
        <p:txBody>
          <a:bodyPr wrap="square" rtlCol="0" anchor="ctr"/>
          <a:lstStyle/>
          <a:p>
            <a:pPr marL="0" indent="0">
              <a:buNone/>
            </a:pPr>
            <a:r>
              <a:rPr lang="en-US" sz="1400" b="1" dirty="0">
                <a:solidFill>
                  <a:srgbClr val="2D6A9F"/>
                </a:solidFill>
              </a:rPr>
              <a:t>📓 Jupyter  </a:t>
            </a:r>
            <a:r>
              <a:rPr lang="en-US" sz="1400" dirty="0">
                <a:solidFill>
                  <a:srgbClr val="1A2C5B"/>
                </a:solidFill>
              </a:rPr>
              <a:t>Notebook trình bày kết quả</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30352"/>
          </a:xfrm>
          <a:prstGeom prst="rect">
            <a:avLst/>
          </a:prstGeom>
          <a:noFill/>
          <a:ln/>
        </p:spPr>
        <p:txBody>
          <a:bodyPr wrap="square" rtlCol="0" anchor="ctr"/>
          <a:lstStyle/>
          <a:p>
            <a:pPr marL="0" indent="0">
              <a:buNone/>
            </a:pPr>
            <a:r>
              <a:rPr lang="en-US" sz="2400" b="1" dirty="0">
                <a:solidFill>
                  <a:srgbClr val="1A2C5B"/>
                </a:solidFill>
                <a:latin typeface="Arial" pitchFamily="34" charset="0"/>
                <a:ea typeface="Arial" pitchFamily="34" charset="-122"/>
                <a:cs typeface="Arial" pitchFamily="34" charset="-120"/>
              </a:rPr>
              <a:t>Q1: THỂ LOẠI GAME CHIẾM LĨNH THỊ PHẦN</a:t>
            </a:r>
            <a:endParaRPr lang="en-US" sz="2400" dirty="0"/>
          </a:p>
        </p:txBody>
      </p:sp>
      <p:sp>
        <p:nvSpPr>
          <p:cNvPr id="3" name="Text 1"/>
          <p:cNvSpPr/>
          <p:nvPr/>
        </p:nvSpPr>
        <p:spPr>
          <a:xfrm>
            <a:off x="365760" y="694944"/>
            <a:ext cx="8412480" cy="256032"/>
          </a:xfrm>
          <a:prstGeom prst="rect">
            <a:avLst/>
          </a:prstGeom>
          <a:noFill/>
          <a:ln/>
        </p:spPr>
        <p:txBody>
          <a:bodyPr wrap="square" rtlCol="0" anchor="ctr"/>
          <a:lstStyle/>
          <a:p>
            <a:pPr marL="0" indent="0">
              <a:buNone/>
            </a:pPr>
            <a:r>
              <a:rPr lang="en-US" sz="1100" i="1" dirty="0">
                <a:solidFill>
                  <a:srgbClr val="64748B"/>
                </a:solidFill>
                <a:latin typeface="Arial" pitchFamily="34" charset="0"/>
                <a:ea typeface="Arial" pitchFamily="34" charset="-122"/>
                <a:cs typeface="Arial" pitchFamily="34" charset="-120"/>
              </a:rPr>
              <a:t>Nhóm 4 thể loại hàng đầu (Action, Sports, Shooter, RPG) nắm giữ hơn 56.7% tổng doanh thu ngành</a:t>
            </a:r>
            <a:endParaRPr lang="en-US" sz="1100" dirty="0"/>
          </a:p>
        </p:txBody>
      </p:sp>
      <p:pic>
        <p:nvPicPr>
          <p:cNvPr id="4" name="Hình ảnh 3">
            <a:extLst>
              <a:ext uri="{FF2B5EF4-FFF2-40B4-BE49-F238E27FC236}">
                <a16:creationId xmlns:a16="http://schemas.microsoft.com/office/drawing/2014/main" id="{1C3963AD-116F-1FC7-823F-4E2EF1B03095}"/>
              </a:ext>
            </a:extLst>
          </p:cNvPr>
          <p:cNvPicPr>
            <a:picLocks noChangeAspect="1"/>
          </p:cNvPicPr>
          <p:nvPr/>
        </p:nvPicPr>
        <p:blipFill>
          <a:blip r:embed="rId3"/>
          <a:stretch>
            <a:fillRect/>
          </a:stretch>
        </p:blipFill>
        <p:spPr>
          <a:xfrm>
            <a:off x="830056" y="1018908"/>
            <a:ext cx="7483888" cy="3429648"/>
          </a:xfrm>
          <a:prstGeom prst="rect">
            <a:avLst/>
          </a:prstGeom>
        </p:spPr>
      </p:pic>
      <p:sp>
        <p:nvSpPr>
          <p:cNvPr id="5" name="Text 1">
            <a:extLst>
              <a:ext uri="{FF2B5EF4-FFF2-40B4-BE49-F238E27FC236}">
                <a16:creationId xmlns:a16="http://schemas.microsoft.com/office/drawing/2014/main" id="{777A60A9-5171-1800-C186-CC462DC27F4E}"/>
              </a:ext>
            </a:extLst>
          </p:cNvPr>
          <p:cNvSpPr/>
          <p:nvPr/>
        </p:nvSpPr>
        <p:spPr>
          <a:xfrm>
            <a:off x="67456" y="4554312"/>
            <a:ext cx="9144000" cy="434340"/>
          </a:xfrm>
          <a:prstGeom prst="rect">
            <a:avLst/>
          </a:prstGeom>
          <a:noFill/>
          <a:ln/>
        </p:spPr>
        <p:txBody>
          <a:bodyPr wrap="square" rtlCol="0" anchor="ctr"/>
          <a:lstStyle/>
          <a:p>
            <a:pPr marL="0" indent="0">
              <a:buNone/>
            </a:pPr>
            <a:r>
              <a:rPr lang="en-US" sz="1600" i="1" dirty="0">
                <a:solidFill>
                  <a:srgbClr val="64748B"/>
                </a:solidFill>
              </a:rPr>
              <a:t>💡 Nhận xét: Thể </a:t>
            </a:r>
            <a:r>
              <a:rPr lang="en-US" sz="1600" i="1">
                <a:solidFill>
                  <a:srgbClr val="64748B"/>
                </a:solidFill>
              </a:rPr>
              <a:t>loại Sports </a:t>
            </a:r>
            <a:r>
              <a:rPr lang="en-US" sz="1600" i="1" dirty="0">
                <a:solidFill>
                  <a:srgbClr val="64748B"/>
                </a:solidFill>
              </a:rPr>
              <a:t>&amp; Action dẫn đầu doanh số toàn cầu nhờ lượng fan rộng lớn và các tựa game blockbuster.</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30352"/>
          </a:xfrm>
          <a:prstGeom prst="rect">
            <a:avLst/>
          </a:prstGeom>
          <a:noFill/>
          <a:ln/>
        </p:spPr>
        <p:txBody>
          <a:bodyPr wrap="square" rtlCol="0" anchor="ctr"/>
          <a:lstStyle/>
          <a:p>
            <a:pPr marL="0" indent="0">
              <a:buNone/>
            </a:pPr>
            <a:r>
              <a:rPr lang="en-US" sz="2400" b="1" dirty="0">
                <a:solidFill>
                  <a:srgbClr val="1A2C5B"/>
                </a:solidFill>
                <a:latin typeface="Arial" pitchFamily="34" charset="0"/>
                <a:ea typeface="Arial" pitchFamily="34" charset="-122"/>
                <a:cs typeface="Arial" pitchFamily="34" charset="-120"/>
              </a:rPr>
              <a:t>Q2: HỆ MÁY CONSOLE ĐẠT KỶ LỤC BÁN CHẠY</a:t>
            </a:r>
            <a:endParaRPr lang="en-US" sz="2400" dirty="0"/>
          </a:p>
        </p:txBody>
      </p:sp>
      <p:sp>
        <p:nvSpPr>
          <p:cNvPr id="3" name="Text 1"/>
          <p:cNvSpPr/>
          <p:nvPr/>
        </p:nvSpPr>
        <p:spPr>
          <a:xfrm>
            <a:off x="365760" y="694944"/>
            <a:ext cx="8412480" cy="256032"/>
          </a:xfrm>
          <a:prstGeom prst="rect">
            <a:avLst/>
          </a:prstGeom>
          <a:noFill/>
          <a:ln/>
        </p:spPr>
        <p:txBody>
          <a:bodyPr wrap="square" rtlCol="0" anchor="ctr"/>
          <a:lstStyle/>
          <a:p>
            <a:pPr marL="0" indent="0">
              <a:buNone/>
            </a:pPr>
            <a:r>
              <a:rPr lang="en-US" sz="1100" i="1" dirty="0">
                <a:solidFill>
                  <a:srgbClr val="64748B"/>
                </a:solidFill>
                <a:latin typeface="Arial" pitchFamily="34" charset="0"/>
                <a:ea typeface="Arial" pitchFamily="34" charset="-122"/>
                <a:cs typeface="Arial" pitchFamily="34" charset="-120"/>
              </a:rPr>
              <a:t>Sony PlayStation duy trì vị thế thống trị qua nhiều thế hệ — Microsoft Xbox 360 tạo thế gọng kìm tại thị trường Bắc Mỹ</a:t>
            </a:r>
            <a:endParaRPr lang="en-US" sz="1100" dirty="0"/>
          </a:p>
        </p:txBody>
      </p:sp>
      <p:pic>
        <p:nvPicPr>
          <p:cNvPr id="4" name="Hình ảnh 3">
            <a:extLst>
              <a:ext uri="{FF2B5EF4-FFF2-40B4-BE49-F238E27FC236}">
                <a16:creationId xmlns:a16="http://schemas.microsoft.com/office/drawing/2014/main" id="{86B6A4C8-DA14-E10C-193F-02941A81C97F}"/>
              </a:ext>
            </a:extLst>
          </p:cNvPr>
          <p:cNvPicPr>
            <a:picLocks noChangeAspect="1"/>
          </p:cNvPicPr>
          <p:nvPr/>
        </p:nvPicPr>
        <p:blipFill>
          <a:blip r:embed="rId3"/>
          <a:stretch>
            <a:fillRect/>
          </a:stretch>
        </p:blipFill>
        <p:spPr>
          <a:xfrm>
            <a:off x="518410" y="1044468"/>
            <a:ext cx="8107180" cy="3479527"/>
          </a:xfrm>
          <a:prstGeom prst="rect">
            <a:avLst/>
          </a:prstGeom>
        </p:spPr>
      </p:pic>
      <p:sp>
        <p:nvSpPr>
          <p:cNvPr id="5" name="Text 1">
            <a:extLst>
              <a:ext uri="{FF2B5EF4-FFF2-40B4-BE49-F238E27FC236}">
                <a16:creationId xmlns:a16="http://schemas.microsoft.com/office/drawing/2014/main" id="{75934E59-6CCD-2554-EA56-2062006F0D46}"/>
              </a:ext>
            </a:extLst>
          </p:cNvPr>
          <p:cNvSpPr/>
          <p:nvPr/>
        </p:nvSpPr>
        <p:spPr>
          <a:xfrm>
            <a:off x="0" y="4709160"/>
            <a:ext cx="9144000" cy="347472"/>
          </a:xfrm>
          <a:prstGeom prst="rect">
            <a:avLst/>
          </a:prstGeom>
          <a:noFill/>
          <a:ln/>
        </p:spPr>
        <p:txBody>
          <a:bodyPr wrap="square" rtlCol="0" anchor="ctr"/>
          <a:lstStyle/>
          <a:p>
            <a:pPr marL="0" indent="0">
              <a:buNone/>
            </a:pPr>
            <a:r>
              <a:rPr lang="en-US" sz="1600" i="1" dirty="0">
                <a:solidFill>
                  <a:srgbClr val="64748B"/>
                </a:solidFill>
              </a:rPr>
              <a:t>💡 Nhận xét: Wii dẫn đầu nhờ Wii Sports — tựa game bundle kỷ lục. NES &amp; GB xếp cao nhờ di sản Nintendo.</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4D53D-B2F9-B8CD-3E74-F102FEAA74D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665B14E-18F3-CE83-0EE3-830841C76988}"/>
              </a:ext>
            </a:extLst>
          </p:cNvPr>
          <p:cNvSpPr/>
          <p:nvPr/>
        </p:nvSpPr>
        <p:spPr>
          <a:xfrm>
            <a:off x="365760" y="164592"/>
            <a:ext cx="8412480" cy="530352"/>
          </a:xfrm>
          <a:prstGeom prst="rect">
            <a:avLst/>
          </a:prstGeom>
          <a:noFill/>
          <a:ln/>
        </p:spPr>
        <p:txBody>
          <a:bodyPr wrap="square" rtlCol="0" anchor="ctr"/>
          <a:lstStyle/>
          <a:p>
            <a:pPr marL="0" indent="0">
              <a:buNone/>
            </a:pPr>
            <a:r>
              <a:rPr lang="en-US" sz="2400" b="1" dirty="0">
                <a:solidFill>
                  <a:srgbClr val="1A2C5B"/>
                </a:solidFill>
                <a:latin typeface="Arial" pitchFamily="34" charset="0"/>
                <a:ea typeface="Arial" pitchFamily="34" charset="-122"/>
                <a:cs typeface="Arial" pitchFamily="34" charset="-120"/>
              </a:rPr>
              <a:t>Q3: NHÀ PHÁT HÀNH ĐỨNG ĐẦU BẢNG XẾP HẠNG</a:t>
            </a:r>
            <a:endParaRPr lang="en-US" sz="2400" dirty="0"/>
          </a:p>
        </p:txBody>
      </p:sp>
      <p:sp>
        <p:nvSpPr>
          <p:cNvPr id="3" name="Text 1">
            <a:extLst>
              <a:ext uri="{FF2B5EF4-FFF2-40B4-BE49-F238E27FC236}">
                <a16:creationId xmlns:a16="http://schemas.microsoft.com/office/drawing/2014/main" id="{400A6BCB-8F28-A902-2BC8-4008D06A964E}"/>
              </a:ext>
            </a:extLst>
          </p:cNvPr>
          <p:cNvSpPr/>
          <p:nvPr/>
        </p:nvSpPr>
        <p:spPr>
          <a:xfrm>
            <a:off x="365760" y="694944"/>
            <a:ext cx="8412480" cy="256032"/>
          </a:xfrm>
          <a:prstGeom prst="rect">
            <a:avLst/>
          </a:prstGeom>
          <a:noFill/>
          <a:ln/>
        </p:spPr>
        <p:txBody>
          <a:bodyPr wrap="square" rtlCol="0" anchor="ctr"/>
          <a:lstStyle/>
          <a:p>
            <a:pPr marL="0" indent="0">
              <a:buNone/>
            </a:pPr>
            <a:r>
              <a:rPr lang="en-US" sz="1100" i="1" dirty="0">
                <a:solidFill>
                  <a:srgbClr val="64748B"/>
                </a:solidFill>
                <a:latin typeface="Arial" pitchFamily="34" charset="0"/>
                <a:ea typeface="Arial" pitchFamily="34" charset="-122"/>
                <a:cs typeface="Arial" pitchFamily="34" charset="-120"/>
              </a:rPr>
              <a:t>Nintendo dẫn đầu nhờ chiến lược độc quyền tinh hoa trên thiết bị phần cứng tự sản xuất — hệ sinh thái khép kín lợi hại</a:t>
            </a:r>
            <a:endParaRPr lang="en-US" sz="1100" dirty="0"/>
          </a:p>
        </p:txBody>
      </p:sp>
      <p:sp>
        <p:nvSpPr>
          <p:cNvPr id="4" name="Shape 2">
            <a:extLst>
              <a:ext uri="{FF2B5EF4-FFF2-40B4-BE49-F238E27FC236}">
                <a16:creationId xmlns:a16="http://schemas.microsoft.com/office/drawing/2014/main" id="{7BFE5760-A237-3477-4F63-04A2DFCC5760}"/>
              </a:ext>
            </a:extLst>
          </p:cNvPr>
          <p:cNvSpPr/>
          <p:nvPr/>
        </p:nvSpPr>
        <p:spPr>
          <a:xfrm>
            <a:off x="6495626" y="987552"/>
            <a:ext cx="2465493" cy="3991356"/>
          </a:xfrm>
          <a:prstGeom prst="roundRect">
            <a:avLst>
              <a:gd name="adj" fmla="val 2959"/>
            </a:avLst>
          </a:prstGeom>
          <a:solidFill>
            <a:srgbClr val="FFFFFF"/>
          </a:solidFill>
          <a:ln/>
          <a:effectLst>
            <a:outerShdw blurRad="101600" dist="38100" dir="2700000" algn="bl" rotWithShape="0">
              <a:srgbClr val="000000">
                <a:alpha val="12000"/>
              </a:srgbClr>
            </a:outerShdw>
          </a:effectLst>
        </p:spPr>
      </p:sp>
      <p:sp>
        <p:nvSpPr>
          <p:cNvPr id="5" name="Shape 3">
            <a:extLst>
              <a:ext uri="{FF2B5EF4-FFF2-40B4-BE49-F238E27FC236}">
                <a16:creationId xmlns:a16="http://schemas.microsoft.com/office/drawing/2014/main" id="{65A58DD4-8F0E-A97B-68DB-578A29A9B04C}"/>
              </a:ext>
            </a:extLst>
          </p:cNvPr>
          <p:cNvSpPr/>
          <p:nvPr/>
        </p:nvSpPr>
        <p:spPr>
          <a:xfrm>
            <a:off x="6495626" y="987552"/>
            <a:ext cx="2465493" cy="365760"/>
          </a:xfrm>
          <a:prstGeom prst="rect">
            <a:avLst/>
          </a:prstGeom>
          <a:solidFill>
            <a:srgbClr val="2D6A9F"/>
          </a:solidFill>
          <a:ln/>
        </p:spPr>
      </p:sp>
      <p:sp>
        <p:nvSpPr>
          <p:cNvPr id="6" name="Text 4">
            <a:extLst>
              <a:ext uri="{FF2B5EF4-FFF2-40B4-BE49-F238E27FC236}">
                <a16:creationId xmlns:a16="http://schemas.microsoft.com/office/drawing/2014/main" id="{529C9821-C6A1-CAD9-2D03-5B32EB215176}"/>
              </a:ext>
            </a:extLst>
          </p:cNvPr>
          <p:cNvSpPr/>
          <p:nvPr/>
        </p:nvSpPr>
        <p:spPr>
          <a:xfrm>
            <a:off x="5989320" y="1014984"/>
            <a:ext cx="2852928" cy="310896"/>
          </a:xfrm>
          <a:prstGeom prst="rect">
            <a:avLst/>
          </a:prstGeom>
          <a:noFill/>
          <a:ln/>
        </p:spPr>
        <p:txBody>
          <a:bodyPr wrap="square"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Top Nhà Phát Hành</a:t>
            </a:r>
            <a:endParaRPr lang="en-US" sz="1150" dirty="0"/>
          </a:p>
        </p:txBody>
      </p:sp>
      <p:sp>
        <p:nvSpPr>
          <p:cNvPr id="7" name="Shape 5">
            <a:extLst>
              <a:ext uri="{FF2B5EF4-FFF2-40B4-BE49-F238E27FC236}">
                <a16:creationId xmlns:a16="http://schemas.microsoft.com/office/drawing/2014/main" id="{577AC323-98F7-920E-3065-39654BB9A921}"/>
              </a:ext>
            </a:extLst>
          </p:cNvPr>
          <p:cNvSpPr/>
          <p:nvPr/>
        </p:nvSpPr>
        <p:spPr>
          <a:xfrm>
            <a:off x="6495626" y="1444752"/>
            <a:ext cx="2346622" cy="749808"/>
          </a:xfrm>
          <a:prstGeom prst="roundRect">
            <a:avLst>
              <a:gd name="adj" fmla="val 12195"/>
            </a:avLst>
          </a:prstGeom>
          <a:solidFill>
            <a:srgbClr val="F0F5FB"/>
          </a:solidFill>
          <a:ln/>
          <a:effectLst>
            <a:outerShdw blurRad="101600" dist="38100" dir="2700000" algn="bl" rotWithShape="0">
              <a:srgbClr val="000000">
                <a:alpha val="12000"/>
              </a:srgbClr>
            </a:outerShdw>
          </a:effectLst>
        </p:spPr>
      </p:sp>
      <p:sp>
        <p:nvSpPr>
          <p:cNvPr id="8" name="Text 6">
            <a:extLst>
              <a:ext uri="{FF2B5EF4-FFF2-40B4-BE49-F238E27FC236}">
                <a16:creationId xmlns:a16="http://schemas.microsoft.com/office/drawing/2014/main" id="{57BD87FE-9E95-C701-6E33-519564F27769}"/>
              </a:ext>
            </a:extLst>
          </p:cNvPr>
          <p:cNvSpPr/>
          <p:nvPr/>
        </p:nvSpPr>
        <p:spPr>
          <a:xfrm>
            <a:off x="6495626" y="1499616"/>
            <a:ext cx="1441366" cy="274320"/>
          </a:xfrm>
          <a:prstGeom prst="rect">
            <a:avLst/>
          </a:prstGeom>
          <a:noFill/>
          <a:ln/>
        </p:spPr>
        <p:txBody>
          <a:bodyPr wrap="square" rtlCol="0" anchor="ctr"/>
          <a:lstStyle/>
          <a:p>
            <a:pPr marL="0" indent="0">
              <a:buNone/>
            </a:pPr>
            <a:r>
              <a:rPr lang="en-US" sz="1150" b="1" dirty="0">
                <a:solidFill>
                  <a:srgbClr val="1A2C5B"/>
                </a:solidFill>
                <a:latin typeface="Arial" pitchFamily="34" charset="0"/>
                <a:ea typeface="Arial" pitchFamily="34" charset="-122"/>
                <a:cs typeface="Arial" pitchFamily="34" charset="-120"/>
              </a:rPr>
              <a:t>Nintendo</a:t>
            </a:r>
            <a:endParaRPr lang="en-US" sz="1150" dirty="0"/>
          </a:p>
        </p:txBody>
      </p:sp>
      <p:sp>
        <p:nvSpPr>
          <p:cNvPr id="9" name="Text 7">
            <a:extLst>
              <a:ext uri="{FF2B5EF4-FFF2-40B4-BE49-F238E27FC236}">
                <a16:creationId xmlns:a16="http://schemas.microsoft.com/office/drawing/2014/main" id="{C822C191-D8D2-360A-2F9C-0A3DC84B0109}"/>
              </a:ext>
            </a:extLst>
          </p:cNvPr>
          <p:cNvSpPr/>
          <p:nvPr/>
        </p:nvSpPr>
        <p:spPr>
          <a:xfrm>
            <a:off x="7498080" y="1499616"/>
            <a:ext cx="1234440" cy="274320"/>
          </a:xfrm>
          <a:prstGeom prst="rect">
            <a:avLst/>
          </a:prstGeom>
          <a:noFill/>
          <a:ln/>
        </p:spPr>
        <p:txBody>
          <a:bodyPr wrap="square" rtlCol="0" anchor="ctr"/>
          <a:lstStyle/>
          <a:p>
            <a:pPr marL="0" indent="0" algn="r">
              <a:buNone/>
            </a:pPr>
            <a:r>
              <a:rPr lang="en-US" sz="1200" b="1" dirty="0">
                <a:solidFill>
                  <a:srgbClr val="E8543A"/>
                </a:solidFill>
                <a:latin typeface="Arial" pitchFamily="34" charset="0"/>
                <a:ea typeface="Arial" pitchFamily="34" charset="-122"/>
                <a:cs typeface="Arial" pitchFamily="34" charset="-120"/>
              </a:rPr>
              <a:t>1,784M USD</a:t>
            </a:r>
            <a:endParaRPr lang="en-US" sz="1200" dirty="0"/>
          </a:p>
        </p:txBody>
      </p:sp>
      <p:sp>
        <p:nvSpPr>
          <p:cNvPr id="10" name="Text 8">
            <a:extLst>
              <a:ext uri="{FF2B5EF4-FFF2-40B4-BE49-F238E27FC236}">
                <a16:creationId xmlns:a16="http://schemas.microsoft.com/office/drawing/2014/main" id="{2E42FD1A-2426-7182-BDAE-9223CFE24372}"/>
              </a:ext>
            </a:extLst>
          </p:cNvPr>
          <p:cNvSpPr/>
          <p:nvPr/>
        </p:nvSpPr>
        <p:spPr>
          <a:xfrm>
            <a:off x="6495626" y="1847088"/>
            <a:ext cx="2172886" cy="237744"/>
          </a:xfrm>
          <a:prstGeom prst="rect">
            <a:avLst/>
          </a:prstGeom>
          <a:noFill/>
          <a:ln/>
        </p:spPr>
        <p:txBody>
          <a:bodyPr wrap="square" rtlCol="0" anchor="ctr"/>
          <a:lstStyle/>
          <a:p>
            <a:pPr marL="0" indent="0">
              <a:buNone/>
            </a:pPr>
            <a:r>
              <a:rPr lang="en-US" sz="950" dirty="0">
                <a:solidFill>
                  <a:srgbClr val="64748B"/>
                </a:solidFill>
                <a:latin typeface="Arial" pitchFamily="34" charset="0"/>
                <a:ea typeface="Arial" pitchFamily="34" charset="-122"/>
                <a:cs typeface="Arial" pitchFamily="34" charset="-120"/>
              </a:rPr>
              <a:t>Platform / RPG</a:t>
            </a:r>
            <a:endParaRPr lang="en-US" sz="950" dirty="0"/>
          </a:p>
        </p:txBody>
      </p:sp>
      <p:sp>
        <p:nvSpPr>
          <p:cNvPr id="11" name="Shape 9">
            <a:extLst>
              <a:ext uri="{FF2B5EF4-FFF2-40B4-BE49-F238E27FC236}">
                <a16:creationId xmlns:a16="http://schemas.microsoft.com/office/drawing/2014/main" id="{A2FF7C7B-EE8E-E3D8-5E61-D46B049A8EBA}"/>
              </a:ext>
            </a:extLst>
          </p:cNvPr>
          <p:cNvSpPr/>
          <p:nvPr/>
        </p:nvSpPr>
        <p:spPr>
          <a:xfrm>
            <a:off x="6495626" y="2322576"/>
            <a:ext cx="2346622" cy="749808"/>
          </a:xfrm>
          <a:prstGeom prst="roundRect">
            <a:avLst>
              <a:gd name="adj" fmla="val 12195"/>
            </a:avLst>
          </a:prstGeom>
          <a:solidFill>
            <a:srgbClr val="FFFFFF"/>
          </a:solidFill>
          <a:ln/>
          <a:effectLst>
            <a:outerShdw blurRad="101600" dist="38100" dir="2700000" algn="bl" rotWithShape="0">
              <a:srgbClr val="000000">
                <a:alpha val="12000"/>
              </a:srgbClr>
            </a:outerShdw>
          </a:effectLst>
        </p:spPr>
      </p:sp>
      <p:sp>
        <p:nvSpPr>
          <p:cNvPr id="12" name="Text 10">
            <a:extLst>
              <a:ext uri="{FF2B5EF4-FFF2-40B4-BE49-F238E27FC236}">
                <a16:creationId xmlns:a16="http://schemas.microsoft.com/office/drawing/2014/main" id="{B5A3689F-7775-A7FE-37F5-1633F0BEDA10}"/>
              </a:ext>
            </a:extLst>
          </p:cNvPr>
          <p:cNvSpPr/>
          <p:nvPr/>
        </p:nvSpPr>
        <p:spPr>
          <a:xfrm>
            <a:off x="6495626" y="2377440"/>
            <a:ext cx="1441366" cy="274320"/>
          </a:xfrm>
          <a:prstGeom prst="rect">
            <a:avLst/>
          </a:prstGeom>
          <a:noFill/>
          <a:ln/>
        </p:spPr>
        <p:txBody>
          <a:bodyPr wrap="square" rtlCol="0" anchor="ctr"/>
          <a:lstStyle/>
          <a:p>
            <a:pPr marL="0" indent="0">
              <a:buNone/>
            </a:pPr>
            <a:r>
              <a:rPr lang="en-US" sz="1150" b="1" dirty="0">
                <a:solidFill>
                  <a:srgbClr val="1A2C5B"/>
                </a:solidFill>
                <a:latin typeface="Arial" pitchFamily="34" charset="0"/>
                <a:ea typeface="Arial" pitchFamily="34" charset="-122"/>
                <a:cs typeface="Arial" pitchFamily="34" charset="-120"/>
              </a:rPr>
              <a:t>EA</a:t>
            </a:r>
            <a:endParaRPr lang="en-US" sz="1150" dirty="0"/>
          </a:p>
        </p:txBody>
      </p:sp>
      <p:sp>
        <p:nvSpPr>
          <p:cNvPr id="13" name="Text 11">
            <a:extLst>
              <a:ext uri="{FF2B5EF4-FFF2-40B4-BE49-F238E27FC236}">
                <a16:creationId xmlns:a16="http://schemas.microsoft.com/office/drawing/2014/main" id="{1D032E02-B3DB-6009-FE5A-5C00419EED4A}"/>
              </a:ext>
            </a:extLst>
          </p:cNvPr>
          <p:cNvSpPr/>
          <p:nvPr/>
        </p:nvSpPr>
        <p:spPr>
          <a:xfrm>
            <a:off x="7498080" y="2377440"/>
            <a:ext cx="1234440" cy="274320"/>
          </a:xfrm>
          <a:prstGeom prst="rect">
            <a:avLst/>
          </a:prstGeom>
          <a:noFill/>
          <a:ln/>
        </p:spPr>
        <p:txBody>
          <a:bodyPr wrap="square" rtlCol="0" anchor="ctr"/>
          <a:lstStyle/>
          <a:p>
            <a:pPr marL="0" indent="0" algn="r">
              <a:buNone/>
            </a:pPr>
            <a:r>
              <a:rPr lang="en-US" sz="1200" b="1">
                <a:solidFill>
                  <a:srgbClr val="E8543A"/>
                </a:solidFill>
                <a:latin typeface="Arial" pitchFamily="34" charset="0"/>
                <a:ea typeface="Arial" pitchFamily="34" charset="-122"/>
                <a:cs typeface="Arial" pitchFamily="34" charset="-120"/>
              </a:rPr>
              <a:t>1,093M </a:t>
            </a:r>
            <a:r>
              <a:rPr lang="en-US" sz="1200" b="1" dirty="0">
                <a:solidFill>
                  <a:srgbClr val="E8543A"/>
                </a:solidFill>
                <a:latin typeface="Arial" pitchFamily="34" charset="0"/>
                <a:ea typeface="Arial" pitchFamily="34" charset="-122"/>
                <a:cs typeface="Arial" pitchFamily="34" charset="-120"/>
              </a:rPr>
              <a:t>USD</a:t>
            </a:r>
            <a:endParaRPr lang="en-US" sz="1200" dirty="0"/>
          </a:p>
        </p:txBody>
      </p:sp>
      <p:sp>
        <p:nvSpPr>
          <p:cNvPr id="14" name="Text 12">
            <a:extLst>
              <a:ext uri="{FF2B5EF4-FFF2-40B4-BE49-F238E27FC236}">
                <a16:creationId xmlns:a16="http://schemas.microsoft.com/office/drawing/2014/main" id="{7F1C26FF-0AC9-3FBB-50FE-1E9A1AAB74C9}"/>
              </a:ext>
            </a:extLst>
          </p:cNvPr>
          <p:cNvSpPr/>
          <p:nvPr/>
        </p:nvSpPr>
        <p:spPr>
          <a:xfrm>
            <a:off x="6495626" y="2724912"/>
            <a:ext cx="2172886" cy="237744"/>
          </a:xfrm>
          <a:prstGeom prst="rect">
            <a:avLst/>
          </a:prstGeom>
          <a:noFill/>
          <a:ln/>
        </p:spPr>
        <p:txBody>
          <a:bodyPr wrap="square" rtlCol="0" anchor="ctr"/>
          <a:lstStyle/>
          <a:p>
            <a:pPr marL="0" indent="0">
              <a:buNone/>
            </a:pPr>
            <a:r>
              <a:rPr lang="en-US" sz="950" dirty="0">
                <a:solidFill>
                  <a:srgbClr val="64748B"/>
                </a:solidFill>
                <a:latin typeface="Arial" pitchFamily="34" charset="0"/>
                <a:ea typeface="Arial" pitchFamily="34" charset="-122"/>
                <a:cs typeface="Arial" pitchFamily="34" charset="-120"/>
              </a:rPr>
              <a:t>Sports / Racing</a:t>
            </a:r>
            <a:endParaRPr lang="en-US" sz="950" dirty="0"/>
          </a:p>
        </p:txBody>
      </p:sp>
      <p:sp>
        <p:nvSpPr>
          <p:cNvPr id="15" name="Shape 13">
            <a:extLst>
              <a:ext uri="{FF2B5EF4-FFF2-40B4-BE49-F238E27FC236}">
                <a16:creationId xmlns:a16="http://schemas.microsoft.com/office/drawing/2014/main" id="{DD9B103B-B474-9A5D-8487-7FEDEA8DADEB}"/>
              </a:ext>
            </a:extLst>
          </p:cNvPr>
          <p:cNvSpPr/>
          <p:nvPr/>
        </p:nvSpPr>
        <p:spPr>
          <a:xfrm>
            <a:off x="6495626" y="3200400"/>
            <a:ext cx="2346622" cy="749808"/>
          </a:xfrm>
          <a:prstGeom prst="roundRect">
            <a:avLst>
              <a:gd name="adj" fmla="val 12195"/>
            </a:avLst>
          </a:prstGeom>
          <a:solidFill>
            <a:srgbClr val="F0F5FB"/>
          </a:solidFill>
          <a:ln/>
          <a:effectLst>
            <a:outerShdw blurRad="101600" dist="38100" dir="2700000" algn="bl" rotWithShape="0">
              <a:srgbClr val="000000">
                <a:alpha val="12000"/>
              </a:srgbClr>
            </a:outerShdw>
          </a:effectLst>
        </p:spPr>
      </p:sp>
      <p:sp>
        <p:nvSpPr>
          <p:cNvPr id="16" name="Text 14">
            <a:extLst>
              <a:ext uri="{FF2B5EF4-FFF2-40B4-BE49-F238E27FC236}">
                <a16:creationId xmlns:a16="http://schemas.microsoft.com/office/drawing/2014/main" id="{2308F66C-B13E-01D5-8B30-825445EDEEF7}"/>
              </a:ext>
            </a:extLst>
          </p:cNvPr>
          <p:cNvSpPr/>
          <p:nvPr/>
        </p:nvSpPr>
        <p:spPr>
          <a:xfrm>
            <a:off x="6495626" y="3255264"/>
            <a:ext cx="1441366" cy="274320"/>
          </a:xfrm>
          <a:prstGeom prst="rect">
            <a:avLst/>
          </a:prstGeom>
          <a:noFill/>
          <a:ln/>
        </p:spPr>
        <p:txBody>
          <a:bodyPr wrap="square" rtlCol="0" anchor="ctr"/>
          <a:lstStyle/>
          <a:p>
            <a:pPr marL="0" indent="0">
              <a:buNone/>
            </a:pPr>
            <a:r>
              <a:rPr lang="en-US" sz="1150" b="1" dirty="0">
                <a:solidFill>
                  <a:srgbClr val="1A2C5B"/>
                </a:solidFill>
                <a:latin typeface="Arial" pitchFamily="34" charset="0"/>
                <a:ea typeface="Arial" pitchFamily="34" charset="-122"/>
                <a:cs typeface="Arial" pitchFamily="34" charset="-120"/>
              </a:rPr>
              <a:t>Activision</a:t>
            </a:r>
            <a:endParaRPr lang="en-US" sz="1150" dirty="0"/>
          </a:p>
        </p:txBody>
      </p:sp>
      <p:sp>
        <p:nvSpPr>
          <p:cNvPr id="17" name="Text 15">
            <a:extLst>
              <a:ext uri="{FF2B5EF4-FFF2-40B4-BE49-F238E27FC236}">
                <a16:creationId xmlns:a16="http://schemas.microsoft.com/office/drawing/2014/main" id="{B04C633F-A541-6E6E-A63B-E0A29012DFDA}"/>
              </a:ext>
            </a:extLst>
          </p:cNvPr>
          <p:cNvSpPr/>
          <p:nvPr/>
        </p:nvSpPr>
        <p:spPr>
          <a:xfrm>
            <a:off x="7498080" y="3255264"/>
            <a:ext cx="1234440" cy="274320"/>
          </a:xfrm>
          <a:prstGeom prst="rect">
            <a:avLst/>
          </a:prstGeom>
          <a:noFill/>
          <a:ln/>
        </p:spPr>
        <p:txBody>
          <a:bodyPr wrap="square" rtlCol="0" anchor="ctr"/>
          <a:lstStyle/>
          <a:p>
            <a:pPr marL="0" indent="0" algn="r">
              <a:buNone/>
            </a:pPr>
            <a:r>
              <a:rPr lang="en-US" sz="1200" b="1" dirty="0">
                <a:solidFill>
                  <a:srgbClr val="E8543A"/>
                </a:solidFill>
                <a:latin typeface="Arial" pitchFamily="34" charset="0"/>
                <a:ea typeface="Arial" pitchFamily="34" charset="-122"/>
                <a:cs typeface="Arial" pitchFamily="34" charset="-120"/>
              </a:rPr>
              <a:t>721M USD</a:t>
            </a:r>
            <a:endParaRPr lang="en-US" sz="1200" dirty="0"/>
          </a:p>
        </p:txBody>
      </p:sp>
      <p:sp>
        <p:nvSpPr>
          <p:cNvPr id="18" name="Text 16">
            <a:extLst>
              <a:ext uri="{FF2B5EF4-FFF2-40B4-BE49-F238E27FC236}">
                <a16:creationId xmlns:a16="http://schemas.microsoft.com/office/drawing/2014/main" id="{2704F026-8351-D386-3A02-27F6FD3878A0}"/>
              </a:ext>
            </a:extLst>
          </p:cNvPr>
          <p:cNvSpPr/>
          <p:nvPr/>
        </p:nvSpPr>
        <p:spPr>
          <a:xfrm>
            <a:off x="6570134" y="3602736"/>
            <a:ext cx="2098378" cy="237744"/>
          </a:xfrm>
          <a:prstGeom prst="rect">
            <a:avLst/>
          </a:prstGeom>
          <a:noFill/>
          <a:ln/>
        </p:spPr>
        <p:txBody>
          <a:bodyPr wrap="square" rtlCol="0" anchor="ctr"/>
          <a:lstStyle/>
          <a:p>
            <a:pPr marL="0" indent="0">
              <a:buNone/>
            </a:pPr>
            <a:r>
              <a:rPr lang="en-US" sz="950" dirty="0">
                <a:solidFill>
                  <a:srgbClr val="64748B"/>
                </a:solidFill>
                <a:latin typeface="Arial" pitchFamily="34" charset="0"/>
                <a:ea typeface="Arial" pitchFamily="34" charset="-122"/>
                <a:cs typeface="Arial" pitchFamily="34" charset="-120"/>
              </a:rPr>
              <a:t>Shooter</a:t>
            </a:r>
            <a:endParaRPr lang="en-US" sz="950" dirty="0"/>
          </a:p>
        </p:txBody>
      </p:sp>
      <p:sp>
        <p:nvSpPr>
          <p:cNvPr id="19" name="Shape 17">
            <a:extLst>
              <a:ext uri="{FF2B5EF4-FFF2-40B4-BE49-F238E27FC236}">
                <a16:creationId xmlns:a16="http://schemas.microsoft.com/office/drawing/2014/main" id="{781A64C9-7AEB-DDEF-6B9E-BFFDA641C649}"/>
              </a:ext>
            </a:extLst>
          </p:cNvPr>
          <p:cNvSpPr/>
          <p:nvPr/>
        </p:nvSpPr>
        <p:spPr>
          <a:xfrm>
            <a:off x="6495626" y="4078224"/>
            <a:ext cx="2346622" cy="749808"/>
          </a:xfrm>
          <a:prstGeom prst="roundRect">
            <a:avLst>
              <a:gd name="adj" fmla="val 12195"/>
            </a:avLst>
          </a:prstGeom>
          <a:solidFill>
            <a:srgbClr val="FFFFFF"/>
          </a:solidFill>
          <a:ln/>
          <a:effectLst>
            <a:outerShdw blurRad="101600" dist="38100" dir="2700000" algn="bl" rotWithShape="0">
              <a:srgbClr val="000000">
                <a:alpha val="12000"/>
              </a:srgbClr>
            </a:outerShdw>
          </a:effectLst>
        </p:spPr>
      </p:sp>
      <p:sp>
        <p:nvSpPr>
          <p:cNvPr id="20" name="Text 18">
            <a:extLst>
              <a:ext uri="{FF2B5EF4-FFF2-40B4-BE49-F238E27FC236}">
                <a16:creationId xmlns:a16="http://schemas.microsoft.com/office/drawing/2014/main" id="{91134A6F-1AB2-780B-5F00-3B59C9A1DF98}"/>
              </a:ext>
            </a:extLst>
          </p:cNvPr>
          <p:cNvSpPr/>
          <p:nvPr/>
        </p:nvSpPr>
        <p:spPr>
          <a:xfrm>
            <a:off x="6495626" y="4133088"/>
            <a:ext cx="1441366" cy="274320"/>
          </a:xfrm>
          <a:prstGeom prst="rect">
            <a:avLst/>
          </a:prstGeom>
          <a:noFill/>
          <a:ln/>
        </p:spPr>
        <p:txBody>
          <a:bodyPr wrap="square" rtlCol="0" anchor="ctr"/>
          <a:lstStyle/>
          <a:p>
            <a:pPr marL="0" indent="0">
              <a:buNone/>
            </a:pPr>
            <a:r>
              <a:rPr lang="en-US" sz="1150" b="1" dirty="0">
                <a:solidFill>
                  <a:srgbClr val="1A2C5B"/>
                </a:solidFill>
                <a:latin typeface="Arial" pitchFamily="34" charset="0"/>
                <a:ea typeface="Arial" pitchFamily="34" charset="-122"/>
                <a:cs typeface="Arial" pitchFamily="34" charset="-120"/>
              </a:rPr>
              <a:t>Sony</a:t>
            </a:r>
            <a:endParaRPr lang="en-US" sz="1150" dirty="0"/>
          </a:p>
        </p:txBody>
      </p:sp>
      <p:sp>
        <p:nvSpPr>
          <p:cNvPr id="21" name="Text 19">
            <a:extLst>
              <a:ext uri="{FF2B5EF4-FFF2-40B4-BE49-F238E27FC236}">
                <a16:creationId xmlns:a16="http://schemas.microsoft.com/office/drawing/2014/main" id="{575709CB-7953-FD94-2301-05E213CC1BC0}"/>
              </a:ext>
            </a:extLst>
          </p:cNvPr>
          <p:cNvSpPr/>
          <p:nvPr/>
        </p:nvSpPr>
        <p:spPr>
          <a:xfrm>
            <a:off x="7498080" y="4133088"/>
            <a:ext cx="1234440" cy="274320"/>
          </a:xfrm>
          <a:prstGeom prst="rect">
            <a:avLst/>
          </a:prstGeom>
          <a:noFill/>
          <a:ln/>
        </p:spPr>
        <p:txBody>
          <a:bodyPr wrap="square" rtlCol="0" anchor="ctr"/>
          <a:lstStyle/>
          <a:p>
            <a:pPr marL="0" indent="0" algn="r">
              <a:buNone/>
            </a:pPr>
            <a:r>
              <a:rPr lang="en-US" sz="1200" b="1" dirty="0">
                <a:solidFill>
                  <a:srgbClr val="E8543A"/>
                </a:solidFill>
                <a:latin typeface="Arial" pitchFamily="34" charset="0"/>
                <a:ea typeface="Arial" pitchFamily="34" charset="-122"/>
                <a:cs typeface="Arial" pitchFamily="34" charset="-120"/>
              </a:rPr>
              <a:t>607M USD</a:t>
            </a:r>
            <a:endParaRPr lang="en-US" sz="1200" dirty="0"/>
          </a:p>
        </p:txBody>
      </p:sp>
      <p:sp>
        <p:nvSpPr>
          <p:cNvPr id="22" name="Text 20">
            <a:extLst>
              <a:ext uri="{FF2B5EF4-FFF2-40B4-BE49-F238E27FC236}">
                <a16:creationId xmlns:a16="http://schemas.microsoft.com/office/drawing/2014/main" id="{E23C4D67-1F1E-A623-3383-905A1A1CC81D}"/>
              </a:ext>
            </a:extLst>
          </p:cNvPr>
          <p:cNvSpPr/>
          <p:nvPr/>
        </p:nvSpPr>
        <p:spPr>
          <a:xfrm>
            <a:off x="6617546" y="4480560"/>
            <a:ext cx="2050966" cy="237744"/>
          </a:xfrm>
          <a:prstGeom prst="rect">
            <a:avLst/>
          </a:prstGeom>
          <a:noFill/>
          <a:ln/>
        </p:spPr>
        <p:txBody>
          <a:bodyPr wrap="square" rtlCol="0" anchor="ctr"/>
          <a:lstStyle/>
          <a:p>
            <a:pPr marL="0" indent="0">
              <a:buNone/>
            </a:pPr>
            <a:r>
              <a:rPr lang="en-US" sz="950" dirty="0">
                <a:solidFill>
                  <a:srgbClr val="64748B"/>
                </a:solidFill>
                <a:latin typeface="Arial" pitchFamily="34" charset="0"/>
                <a:ea typeface="Arial" pitchFamily="34" charset="-122"/>
                <a:cs typeface="Arial" pitchFamily="34" charset="-120"/>
              </a:rPr>
              <a:t>Action / Adventure</a:t>
            </a:r>
            <a:endParaRPr lang="en-US" sz="950" dirty="0"/>
          </a:p>
        </p:txBody>
      </p:sp>
      <p:sp>
        <p:nvSpPr>
          <p:cNvPr id="24" name="Text 22">
            <a:extLst>
              <a:ext uri="{FF2B5EF4-FFF2-40B4-BE49-F238E27FC236}">
                <a16:creationId xmlns:a16="http://schemas.microsoft.com/office/drawing/2014/main" id="{CDDBDAB6-5537-B05D-AD4E-CEE934F9AA4E}"/>
              </a:ext>
            </a:extLst>
          </p:cNvPr>
          <p:cNvSpPr/>
          <p:nvPr/>
        </p:nvSpPr>
        <p:spPr>
          <a:xfrm>
            <a:off x="0" y="4516289"/>
            <a:ext cx="6443810" cy="621792"/>
          </a:xfrm>
          <a:prstGeom prst="rect">
            <a:avLst/>
          </a:prstGeom>
          <a:noFill/>
          <a:ln/>
        </p:spPr>
        <p:txBody>
          <a:bodyPr wrap="square" rtlCol="0" anchor="ctr"/>
          <a:lstStyle/>
          <a:p>
            <a:pPr marL="0" indent="0">
              <a:lnSpc>
                <a:spcPct val="150000"/>
              </a:lnSpc>
              <a:buNone/>
            </a:pPr>
            <a:r>
              <a:rPr lang="en-US" sz="1100" dirty="0">
                <a:solidFill>
                  <a:srgbClr val="1A2C5B"/>
                </a:solidFill>
                <a:latin typeface="Arial" pitchFamily="34" charset="0"/>
                <a:ea typeface="Arial" pitchFamily="34" charset="-122"/>
                <a:cs typeface="Arial" pitchFamily="34" charset="-120"/>
              </a:rPr>
              <a:t>💡 Mặc dù EA phát hành số lượng game nhiều hơn gấp đôi, Nintendo vẫn dẫn đầu tổng doanh thu nhờ hệ sinh thái độc quyền với IP mạnh.</a:t>
            </a:r>
            <a:endParaRPr lang="en-US" sz="1100" dirty="0"/>
          </a:p>
        </p:txBody>
      </p:sp>
      <p:pic>
        <p:nvPicPr>
          <p:cNvPr id="46" name="Hình ảnh 45">
            <a:extLst>
              <a:ext uri="{FF2B5EF4-FFF2-40B4-BE49-F238E27FC236}">
                <a16:creationId xmlns:a16="http://schemas.microsoft.com/office/drawing/2014/main" id="{9B507B20-DC2D-D38D-DD3F-83D952CEE0AC}"/>
              </a:ext>
            </a:extLst>
          </p:cNvPr>
          <p:cNvPicPr>
            <a:picLocks noChangeAspect="1"/>
          </p:cNvPicPr>
          <p:nvPr/>
        </p:nvPicPr>
        <p:blipFill>
          <a:blip r:embed="rId3"/>
          <a:stretch>
            <a:fillRect/>
          </a:stretch>
        </p:blipFill>
        <p:spPr>
          <a:xfrm>
            <a:off x="792819" y="982811"/>
            <a:ext cx="5077629" cy="3593202"/>
          </a:xfrm>
          <a:prstGeom prst="rect">
            <a:avLst/>
          </a:prstGeom>
        </p:spPr>
      </p:pic>
    </p:spTree>
    <p:extLst>
      <p:ext uri="{BB962C8B-B14F-4D97-AF65-F5344CB8AC3E}">
        <p14:creationId xmlns:p14="http://schemas.microsoft.com/office/powerpoint/2010/main" val="1540701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30352"/>
          </a:xfrm>
          <a:prstGeom prst="rect">
            <a:avLst/>
          </a:prstGeom>
          <a:noFill/>
          <a:ln/>
        </p:spPr>
        <p:txBody>
          <a:bodyPr wrap="square" rtlCol="0" anchor="ctr"/>
          <a:lstStyle/>
          <a:p>
            <a:pPr marL="0" indent="0">
              <a:buNone/>
            </a:pPr>
            <a:r>
              <a:rPr lang="en-US" sz="2400" b="1" dirty="0">
                <a:solidFill>
                  <a:srgbClr val="1A2C5B"/>
                </a:solidFill>
                <a:latin typeface="Arial" pitchFamily="34" charset="0"/>
                <a:ea typeface="Arial" pitchFamily="34" charset="-122"/>
                <a:cs typeface="Arial" pitchFamily="34" charset="-120"/>
              </a:rPr>
              <a:t>Q4: SỰ KHÁC BIỆT THỊ HIẾU THEO ĐỊA LÝ</a:t>
            </a:r>
            <a:endParaRPr lang="en-US" sz="2400" dirty="0"/>
          </a:p>
        </p:txBody>
      </p:sp>
      <p:sp>
        <p:nvSpPr>
          <p:cNvPr id="3" name="Text 1"/>
          <p:cNvSpPr/>
          <p:nvPr/>
        </p:nvSpPr>
        <p:spPr>
          <a:xfrm>
            <a:off x="365760" y="694944"/>
            <a:ext cx="8412480" cy="256032"/>
          </a:xfrm>
          <a:prstGeom prst="rect">
            <a:avLst/>
          </a:prstGeom>
          <a:noFill/>
          <a:ln/>
        </p:spPr>
        <p:txBody>
          <a:bodyPr wrap="square" rtlCol="0" anchor="ctr"/>
          <a:lstStyle/>
          <a:p>
            <a:pPr marL="0" indent="0">
              <a:buNone/>
            </a:pPr>
            <a:r>
              <a:rPr lang="en-US" sz="1100" i="1" dirty="0">
                <a:solidFill>
                  <a:srgbClr val="64748B"/>
                </a:solidFill>
                <a:latin typeface="Arial" pitchFamily="34" charset="0"/>
                <a:ea typeface="Arial" pitchFamily="34" charset="-122"/>
                <a:cs typeface="Arial" pitchFamily="34" charset="-120"/>
              </a:rPr>
              <a:t>Bắc Mỹ chiếm 50-60% thị phần đĩa vật lý — Nhật Bản có sở thích tiêu dùng hoàn toàn tách biệt với phần còn lại</a:t>
            </a:r>
            <a:endParaRPr lang="en-US" sz="1100" dirty="0"/>
          </a:p>
        </p:txBody>
      </p:sp>
      <p:sp>
        <p:nvSpPr>
          <p:cNvPr id="4" name="Shape 2"/>
          <p:cNvSpPr/>
          <p:nvPr/>
        </p:nvSpPr>
        <p:spPr>
          <a:xfrm>
            <a:off x="292608" y="4343400"/>
            <a:ext cx="2743200" cy="713232"/>
          </a:xfrm>
          <a:prstGeom prst="roundRect">
            <a:avLst>
              <a:gd name="adj" fmla="val 12821"/>
            </a:avLst>
          </a:prstGeom>
          <a:solidFill>
            <a:srgbClr val="F0F5FB"/>
          </a:solidFill>
          <a:ln/>
          <a:effectLst>
            <a:outerShdw blurRad="101600" dist="38100" dir="2700000" algn="bl" rotWithShape="0">
              <a:srgbClr val="000000">
                <a:alpha val="12000"/>
              </a:srgbClr>
            </a:outerShdw>
          </a:effectLst>
        </p:spPr>
      </p:sp>
      <p:sp>
        <p:nvSpPr>
          <p:cNvPr id="5" name="Shape 3"/>
          <p:cNvSpPr/>
          <p:nvPr/>
        </p:nvSpPr>
        <p:spPr>
          <a:xfrm>
            <a:off x="420624" y="4407408"/>
            <a:ext cx="365760" cy="365760"/>
          </a:xfrm>
          <a:prstGeom prst="ellipse">
            <a:avLst/>
          </a:prstGeom>
          <a:solidFill>
            <a:srgbClr val="2D6A9F"/>
          </a:solidFill>
          <a:ln w="12700">
            <a:solidFill>
              <a:srgbClr val="2D6A9F"/>
            </a:solidFill>
            <a:prstDash val="solid"/>
          </a:ln>
        </p:spPr>
      </p:sp>
      <p:sp>
        <p:nvSpPr>
          <p:cNvPr id="6" name="Text 4"/>
          <p:cNvSpPr/>
          <p:nvPr/>
        </p:nvSpPr>
        <p:spPr>
          <a:xfrm>
            <a:off x="420624" y="4398264"/>
            <a:ext cx="365760" cy="384048"/>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7" name="Text 5"/>
          <p:cNvSpPr/>
          <p:nvPr/>
        </p:nvSpPr>
        <p:spPr>
          <a:xfrm>
            <a:off x="886968" y="4407408"/>
            <a:ext cx="1097280" cy="274320"/>
          </a:xfrm>
          <a:prstGeom prst="rect">
            <a:avLst/>
          </a:prstGeom>
          <a:noFill/>
          <a:ln/>
        </p:spPr>
        <p:txBody>
          <a:bodyPr wrap="square" rtlCol="0" anchor="ctr"/>
          <a:lstStyle/>
          <a:p>
            <a:pPr marL="0" indent="0">
              <a:buNone/>
            </a:pPr>
            <a:r>
              <a:rPr lang="en-US" sz="1400" b="1" dirty="0">
                <a:solidFill>
                  <a:srgbClr val="2D6A9F"/>
                </a:solidFill>
                <a:latin typeface="Arial" pitchFamily="34" charset="0"/>
                <a:ea typeface="Arial" pitchFamily="34" charset="-122"/>
                <a:cs typeface="Arial" pitchFamily="34" charset="-120"/>
              </a:rPr>
              <a:t>Bắc Mỹ</a:t>
            </a:r>
            <a:endParaRPr lang="en-US" sz="1400" dirty="0"/>
          </a:p>
        </p:txBody>
      </p:sp>
      <p:sp>
        <p:nvSpPr>
          <p:cNvPr id="8" name="Text 6"/>
          <p:cNvSpPr/>
          <p:nvPr/>
        </p:nvSpPr>
        <p:spPr>
          <a:xfrm>
            <a:off x="886968" y="4681728"/>
            <a:ext cx="2011680" cy="329184"/>
          </a:xfrm>
          <a:prstGeom prst="rect">
            <a:avLst/>
          </a:prstGeom>
          <a:noFill/>
          <a:ln/>
        </p:spPr>
        <p:txBody>
          <a:bodyPr wrap="square" rtlCol="0" anchor="ctr"/>
          <a:lstStyle/>
          <a:p>
            <a:pPr marL="0" indent="0">
              <a:buNone/>
            </a:pPr>
            <a:r>
              <a:rPr lang="en-US" sz="1100" dirty="0">
                <a:solidFill>
                  <a:srgbClr val="444444"/>
                </a:solidFill>
                <a:latin typeface="Arial" pitchFamily="34" charset="0"/>
                <a:ea typeface="Arial" pitchFamily="34" charset="-122"/>
                <a:cs typeface="Arial" pitchFamily="34" charset="-120"/>
              </a:rPr>
              <a:t>~50-60% tổng doanh thu</a:t>
            </a:r>
            <a:endParaRPr lang="en-US" sz="1100" dirty="0"/>
          </a:p>
          <a:p>
            <a:pPr marL="0" indent="0">
              <a:buNone/>
            </a:pPr>
            <a:r>
              <a:rPr lang="en-US" sz="1100" dirty="0">
                <a:solidFill>
                  <a:srgbClr val="444444"/>
                </a:solidFill>
                <a:latin typeface="Arial" pitchFamily="34" charset="0"/>
                <a:ea typeface="Arial" pitchFamily="34" charset="-122"/>
                <a:cs typeface="Arial" pitchFamily="34" charset="-120"/>
              </a:rPr>
              <a:t>Action &amp; Shooter dẫn đầu</a:t>
            </a:r>
            <a:endParaRPr lang="en-US" sz="1100" dirty="0"/>
          </a:p>
        </p:txBody>
      </p:sp>
      <p:sp>
        <p:nvSpPr>
          <p:cNvPr id="9" name="Shape 7"/>
          <p:cNvSpPr/>
          <p:nvPr/>
        </p:nvSpPr>
        <p:spPr>
          <a:xfrm>
            <a:off x="3218688" y="4343400"/>
            <a:ext cx="2743200" cy="713232"/>
          </a:xfrm>
          <a:prstGeom prst="roundRect">
            <a:avLst>
              <a:gd name="adj" fmla="val 12821"/>
            </a:avLst>
          </a:prstGeom>
          <a:solidFill>
            <a:srgbClr val="F0F5FB"/>
          </a:solidFill>
          <a:ln/>
          <a:effectLst>
            <a:outerShdw blurRad="101600" dist="38100" dir="2700000" algn="bl" rotWithShape="0">
              <a:srgbClr val="000000">
                <a:alpha val="12000"/>
              </a:srgbClr>
            </a:outerShdw>
          </a:effectLst>
        </p:spPr>
      </p:sp>
      <p:sp>
        <p:nvSpPr>
          <p:cNvPr id="10" name="Shape 8"/>
          <p:cNvSpPr/>
          <p:nvPr/>
        </p:nvSpPr>
        <p:spPr>
          <a:xfrm>
            <a:off x="3346704" y="4407408"/>
            <a:ext cx="365760" cy="365760"/>
          </a:xfrm>
          <a:prstGeom prst="ellipse">
            <a:avLst/>
          </a:prstGeom>
          <a:solidFill>
            <a:srgbClr val="3DAA6E"/>
          </a:solidFill>
          <a:ln w="12700">
            <a:solidFill>
              <a:srgbClr val="3DAA6E"/>
            </a:solidFill>
            <a:prstDash val="solid"/>
          </a:ln>
        </p:spPr>
      </p:sp>
      <p:sp>
        <p:nvSpPr>
          <p:cNvPr id="11" name="Text 9"/>
          <p:cNvSpPr/>
          <p:nvPr/>
        </p:nvSpPr>
        <p:spPr>
          <a:xfrm>
            <a:off x="3346704" y="4398264"/>
            <a:ext cx="365760" cy="384048"/>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2" name="Text 10"/>
          <p:cNvSpPr/>
          <p:nvPr/>
        </p:nvSpPr>
        <p:spPr>
          <a:xfrm>
            <a:off x="3813048" y="4407408"/>
            <a:ext cx="1097280" cy="274320"/>
          </a:xfrm>
          <a:prstGeom prst="rect">
            <a:avLst/>
          </a:prstGeom>
          <a:noFill/>
          <a:ln/>
        </p:spPr>
        <p:txBody>
          <a:bodyPr wrap="square" rtlCol="0" anchor="ctr"/>
          <a:lstStyle/>
          <a:p>
            <a:pPr marL="0" indent="0">
              <a:buNone/>
            </a:pPr>
            <a:r>
              <a:rPr lang="en-US" sz="1400" b="1" dirty="0">
                <a:solidFill>
                  <a:srgbClr val="3DAA6E"/>
                </a:solidFill>
                <a:latin typeface="Arial" pitchFamily="34" charset="0"/>
                <a:ea typeface="Arial" pitchFamily="34" charset="-122"/>
                <a:cs typeface="Arial" pitchFamily="34" charset="-120"/>
              </a:rPr>
              <a:t>Châu Âu</a:t>
            </a:r>
            <a:endParaRPr lang="en-US" sz="1400" dirty="0"/>
          </a:p>
        </p:txBody>
      </p:sp>
      <p:sp>
        <p:nvSpPr>
          <p:cNvPr id="13" name="Text 11"/>
          <p:cNvSpPr/>
          <p:nvPr/>
        </p:nvSpPr>
        <p:spPr>
          <a:xfrm>
            <a:off x="3813048" y="4681728"/>
            <a:ext cx="2011680" cy="329184"/>
          </a:xfrm>
          <a:prstGeom prst="rect">
            <a:avLst/>
          </a:prstGeom>
          <a:noFill/>
          <a:ln/>
        </p:spPr>
        <p:txBody>
          <a:bodyPr wrap="square" rtlCol="0" anchor="ctr"/>
          <a:lstStyle/>
          <a:p>
            <a:pPr marL="0" indent="0">
              <a:buNone/>
            </a:pPr>
            <a:r>
              <a:rPr lang="en-US" sz="1100" dirty="0">
                <a:solidFill>
                  <a:srgbClr val="444444"/>
                </a:solidFill>
                <a:latin typeface="Arial" pitchFamily="34" charset="0"/>
                <a:ea typeface="Arial" pitchFamily="34" charset="-122"/>
                <a:cs typeface="Arial" pitchFamily="34" charset="-120"/>
              </a:rPr>
              <a:t>~25% </a:t>
            </a:r>
            <a:r>
              <a:rPr lang="en-US" sz="1100">
                <a:solidFill>
                  <a:srgbClr val="444444"/>
                </a:solidFill>
                <a:latin typeface="Arial" pitchFamily="34" charset="0"/>
                <a:ea typeface="Arial" pitchFamily="34" charset="-122"/>
                <a:cs typeface="Arial" pitchFamily="34" charset="-120"/>
              </a:rPr>
              <a:t>thị phần</a:t>
            </a:r>
          </a:p>
          <a:p>
            <a:pPr marL="0" indent="0">
              <a:buNone/>
            </a:pPr>
            <a:r>
              <a:rPr lang="vi-VN" sz="1100">
                <a:solidFill>
                  <a:srgbClr val="444444"/>
                </a:solidFill>
                <a:latin typeface="Arial" pitchFamily="34" charset="0"/>
                <a:cs typeface="Arial" pitchFamily="34" charset="-120"/>
              </a:rPr>
              <a:t>Ư</a:t>
            </a:r>
            <a:r>
              <a:rPr lang="en-US" sz="1100">
                <a:solidFill>
                  <a:srgbClr val="444444"/>
                </a:solidFill>
                <a:latin typeface="Arial" pitchFamily="34" charset="0"/>
                <a:cs typeface="Arial" pitchFamily="34" charset="-120"/>
              </a:rPr>
              <a:t>u tiên Action, Shooter,Sport</a:t>
            </a:r>
            <a:endParaRPr lang="en-US" sz="1100" dirty="0"/>
          </a:p>
        </p:txBody>
      </p:sp>
      <p:sp>
        <p:nvSpPr>
          <p:cNvPr id="14" name="Shape 12"/>
          <p:cNvSpPr/>
          <p:nvPr/>
        </p:nvSpPr>
        <p:spPr>
          <a:xfrm>
            <a:off x="6144768" y="4343400"/>
            <a:ext cx="2743200" cy="713232"/>
          </a:xfrm>
          <a:prstGeom prst="roundRect">
            <a:avLst>
              <a:gd name="adj" fmla="val 12821"/>
            </a:avLst>
          </a:prstGeom>
          <a:solidFill>
            <a:srgbClr val="F0F5FB"/>
          </a:solidFill>
          <a:ln/>
          <a:effectLst>
            <a:outerShdw blurRad="101600" dist="38100" dir="2700000" algn="bl" rotWithShape="0">
              <a:srgbClr val="000000">
                <a:alpha val="12000"/>
              </a:srgbClr>
            </a:outerShdw>
          </a:effectLst>
        </p:spPr>
      </p:sp>
      <p:sp>
        <p:nvSpPr>
          <p:cNvPr id="15" name="Shape 13"/>
          <p:cNvSpPr/>
          <p:nvPr/>
        </p:nvSpPr>
        <p:spPr>
          <a:xfrm>
            <a:off x="6272784" y="4407408"/>
            <a:ext cx="365760" cy="365760"/>
          </a:xfrm>
          <a:prstGeom prst="ellipse">
            <a:avLst/>
          </a:prstGeom>
          <a:solidFill>
            <a:srgbClr val="E8543A"/>
          </a:solidFill>
          <a:ln w="12700">
            <a:solidFill>
              <a:srgbClr val="E8543A"/>
            </a:solidFill>
            <a:prstDash val="solid"/>
          </a:ln>
        </p:spPr>
      </p:sp>
      <p:sp>
        <p:nvSpPr>
          <p:cNvPr id="16" name="Text 14"/>
          <p:cNvSpPr/>
          <p:nvPr/>
        </p:nvSpPr>
        <p:spPr>
          <a:xfrm>
            <a:off x="6272784" y="4398264"/>
            <a:ext cx="365760" cy="384048"/>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7" name="Text 15"/>
          <p:cNvSpPr/>
          <p:nvPr/>
        </p:nvSpPr>
        <p:spPr>
          <a:xfrm>
            <a:off x="6739128" y="4407408"/>
            <a:ext cx="1097280" cy="274320"/>
          </a:xfrm>
          <a:prstGeom prst="rect">
            <a:avLst/>
          </a:prstGeom>
          <a:noFill/>
          <a:ln/>
        </p:spPr>
        <p:txBody>
          <a:bodyPr wrap="square" rtlCol="0" anchor="ctr"/>
          <a:lstStyle/>
          <a:p>
            <a:pPr marL="0" indent="0">
              <a:buNone/>
            </a:pPr>
            <a:r>
              <a:rPr lang="en-US" sz="1400" b="1" dirty="0">
                <a:solidFill>
                  <a:srgbClr val="E8543A"/>
                </a:solidFill>
                <a:latin typeface="Arial" pitchFamily="34" charset="0"/>
                <a:ea typeface="Arial" pitchFamily="34" charset="-122"/>
                <a:cs typeface="Arial" pitchFamily="34" charset="-120"/>
              </a:rPr>
              <a:t>Nhật Bản</a:t>
            </a:r>
            <a:endParaRPr lang="en-US" sz="1400" dirty="0"/>
          </a:p>
        </p:txBody>
      </p:sp>
      <p:sp>
        <p:nvSpPr>
          <p:cNvPr id="18" name="Text 16"/>
          <p:cNvSpPr/>
          <p:nvPr/>
        </p:nvSpPr>
        <p:spPr>
          <a:xfrm>
            <a:off x="6739128" y="4681728"/>
            <a:ext cx="2011680" cy="329184"/>
          </a:xfrm>
          <a:prstGeom prst="rect">
            <a:avLst/>
          </a:prstGeom>
          <a:noFill/>
          <a:ln/>
        </p:spPr>
        <p:txBody>
          <a:bodyPr wrap="square" rtlCol="0" anchor="ctr"/>
          <a:lstStyle/>
          <a:p>
            <a:pPr marL="0" indent="0">
              <a:buNone/>
            </a:pPr>
            <a:r>
              <a:rPr lang="en-US" sz="1100" dirty="0">
                <a:solidFill>
                  <a:srgbClr val="444444"/>
                </a:solidFill>
                <a:latin typeface="Arial" pitchFamily="34" charset="0"/>
                <a:ea typeface="Arial" pitchFamily="34" charset="-122"/>
                <a:cs typeface="Arial" pitchFamily="34" charset="-120"/>
              </a:rPr>
              <a:t>RPG chiếm ~40%</a:t>
            </a:r>
            <a:endParaRPr lang="en-US" sz="1100" dirty="0"/>
          </a:p>
          <a:p>
            <a:pPr marL="0" indent="0">
              <a:buNone/>
            </a:pPr>
            <a:r>
              <a:rPr lang="en-US" sz="1100" dirty="0">
                <a:solidFill>
                  <a:srgbClr val="444444"/>
                </a:solidFill>
                <a:latin typeface="Arial" pitchFamily="34" charset="0"/>
                <a:ea typeface="Arial" pitchFamily="34" charset="-122"/>
                <a:cs typeface="Arial" pitchFamily="34" charset="-120"/>
              </a:rPr>
              <a:t>Handheld cực phổ biến</a:t>
            </a:r>
            <a:endParaRPr lang="en-US" sz="1100" dirty="0"/>
          </a:p>
        </p:txBody>
      </p:sp>
      <p:pic>
        <p:nvPicPr>
          <p:cNvPr id="19" name="Hình ảnh 18">
            <a:extLst>
              <a:ext uri="{FF2B5EF4-FFF2-40B4-BE49-F238E27FC236}">
                <a16:creationId xmlns:a16="http://schemas.microsoft.com/office/drawing/2014/main" id="{49514F42-8064-177C-7B5A-A308649815E6}"/>
              </a:ext>
            </a:extLst>
          </p:cNvPr>
          <p:cNvPicPr>
            <a:picLocks noChangeAspect="1"/>
          </p:cNvPicPr>
          <p:nvPr/>
        </p:nvPicPr>
        <p:blipFill>
          <a:blip r:embed="rId3"/>
          <a:stretch>
            <a:fillRect/>
          </a:stretch>
        </p:blipFill>
        <p:spPr>
          <a:xfrm>
            <a:off x="786384" y="950448"/>
            <a:ext cx="6882384" cy="322378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4">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30352"/>
          </a:xfrm>
          <a:prstGeom prst="rect">
            <a:avLst/>
          </a:prstGeom>
          <a:noFill/>
          <a:ln/>
        </p:spPr>
        <p:txBody>
          <a:bodyPr wrap="square" rtlCol="0" anchor="ctr"/>
          <a:lstStyle/>
          <a:p>
            <a:pPr marL="0" indent="0">
              <a:buNone/>
            </a:pPr>
            <a:r>
              <a:rPr lang="en-US" sz="2400" b="1" dirty="0">
                <a:solidFill>
                  <a:srgbClr val="1A2C5B"/>
                </a:solidFill>
                <a:latin typeface="Arial" pitchFamily="34" charset="0"/>
                <a:ea typeface="Arial" pitchFamily="34" charset="-122"/>
                <a:cs typeface="Arial" pitchFamily="34" charset="-120"/>
              </a:rPr>
              <a:t>Q5: BIẾN ĐỘNG DOANH SỐ THEO THỜI GIAN</a:t>
            </a:r>
            <a:endParaRPr lang="en-US" sz="2400" dirty="0"/>
          </a:p>
        </p:txBody>
      </p:sp>
      <p:sp>
        <p:nvSpPr>
          <p:cNvPr id="3" name="Text 1"/>
          <p:cNvSpPr/>
          <p:nvPr/>
        </p:nvSpPr>
        <p:spPr>
          <a:xfrm>
            <a:off x="365760" y="694944"/>
            <a:ext cx="8412480" cy="256032"/>
          </a:xfrm>
          <a:prstGeom prst="rect">
            <a:avLst/>
          </a:prstGeom>
          <a:noFill/>
          <a:ln/>
        </p:spPr>
        <p:txBody>
          <a:bodyPr wrap="square" rtlCol="0" anchor="ctr"/>
          <a:lstStyle/>
          <a:p>
            <a:pPr marL="0" indent="0">
              <a:buNone/>
            </a:pPr>
            <a:r>
              <a:rPr lang="en-US" sz="1100" i="1" dirty="0">
                <a:solidFill>
                  <a:srgbClr val="64748B"/>
                </a:solidFill>
                <a:latin typeface="Arial" pitchFamily="34" charset="0"/>
                <a:ea typeface="Arial" pitchFamily="34" charset="-122"/>
                <a:cs typeface="Arial" pitchFamily="34" charset="-120"/>
              </a:rPr>
              <a:t>Xu hướng chuyển dịch lịch sử của ngành — đỉnh 678.9M USD năm 2008, sau đó thoái trào đĩa vật lý</a:t>
            </a:r>
            <a:endParaRPr lang="en-US" sz="1100" dirty="0"/>
          </a:p>
        </p:txBody>
      </p:sp>
      <p:sp>
        <p:nvSpPr>
          <p:cNvPr id="4" name="Shape 2"/>
          <p:cNvSpPr/>
          <p:nvPr/>
        </p:nvSpPr>
        <p:spPr>
          <a:xfrm>
            <a:off x="6144768" y="1136904"/>
            <a:ext cx="2743200" cy="914400"/>
          </a:xfrm>
          <a:prstGeom prst="roundRect">
            <a:avLst>
              <a:gd name="adj" fmla="val 10000"/>
            </a:avLst>
          </a:prstGeom>
          <a:solidFill>
            <a:srgbClr val="F0F5FB"/>
          </a:solidFill>
          <a:ln/>
          <a:effectLst>
            <a:outerShdw blurRad="101600" dist="38100" dir="2700000" algn="bl" rotWithShape="0">
              <a:srgbClr val="000000">
                <a:alpha val="12000"/>
              </a:srgbClr>
            </a:outerShdw>
          </a:effectLst>
        </p:spPr>
      </p:sp>
      <p:sp>
        <p:nvSpPr>
          <p:cNvPr id="5" name="Shape 3"/>
          <p:cNvSpPr/>
          <p:nvPr/>
        </p:nvSpPr>
        <p:spPr>
          <a:xfrm>
            <a:off x="6281928" y="1210056"/>
            <a:ext cx="384048" cy="384048"/>
          </a:xfrm>
          <a:prstGeom prst="ellipse">
            <a:avLst/>
          </a:prstGeom>
          <a:solidFill>
            <a:srgbClr val="9B59B6"/>
          </a:solidFill>
          <a:ln w="12700">
            <a:solidFill>
              <a:srgbClr val="9B59B6"/>
            </a:solidFill>
            <a:prstDash val="solid"/>
          </a:ln>
        </p:spPr>
      </p:sp>
      <p:sp>
        <p:nvSpPr>
          <p:cNvPr id="6" name="Text 4"/>
          <p:cNvSpPr/>
          <p:nvPr/>
        </p:nvSpPr>
        <p:spPr>
          <a:xfrm>
            <a:off x="6766560" y="1210056"/>
            <a:ext cx="1993392" cy="256032"/>
          </a:xfrm>
          <a:prstGeom prst="rect">
            <a:avLst/>
          </a:prstGeom>
          <a:noFill/>
          <a:ln/>
        </p:spPr>
        <p:txBody>
          <a:bodyPr wrap="square" rtlCol="0" anchor="ctr"/>
          <a:lstStyle/>
          <a:p>
            <a:pPr marL="0" indent="0">
              <a:buNone/>
            </a:pPr>
            <a:r>
              <a:rPr lang="en-US" sz="1000" b="1" dirty="0">
                <a:solidFill>
                  <a:srgbClr val="9B59B6"/>
                </a:solidFill>
                <a:latin typeface="Arial" pitchFamily="34" charset="0"/>
                <a:ea typeface="Arial" pitchFamily="34" charset="-122"/>
                <a:cs typeface="Arial" pitchFamily="34" charset="-120"/>
              </a:rPr>
              <a:t>1980–1995</a:t>
            </a:r>
            <a:endParaRPr lang="en-US" sz="1000" dirty="0"/>
          </a:p>
        </p:txBody>
      </p:sp>
      <p:sp>
        <p:nvSpPr>
          <p:cNvPr id="7" name="Text 5"/>
          <p:cNvSpPr/>
          <p:nvPr/>
        </p:nvSpPr>
        <p:spPr>
          <a:xfrm>
            <a:off x="6766560" y="1466088"/>
            <a:ext cx="1993392" cy="237744"/>
          </a:xfrm>
          <a:prstGeom prst="rect">
            <a:avLst/>
          </a:prstGeom>
          <a:noFill/>
          <a:ln/>
        </p:spPr>
        <p:txBody>
          <a:bodyPr wrap="square" rtlCol="0" anchor="ctr"/>
          <a:lstStyle/>
          <a:p>
            <a:pPr marL="0" indent="0">
              <a:buNone/>
            </a:pPr>
            <a:r>
              <a:rPr lang="en-US" sz="1050" b="1" dirty="0">
                <a:solidFill>
                  <a:srgbClr val="1A2C5B"/>
                </a:solidFill>
                <a:latin typeface="Arial" pitchFamily="34" charset="0"/>
                <a:ea typeface="Arial" pitchFamily="34" charset="-122"/>
                <a:cs typeface="Arial" pitchFamily="34" charset="-120"/>
              </a:rPr>
              <a:t>Giai đoạn Sơ Khai</a:t>
            </a:r>
            <a:endParaRPr lang="en-US" sz="1050" dirty="0"/>
          </a:p>
        </p:txBody>
      </p:sp>
      <p:sp>
        <p:nvSpPr>
          <p:cNvPr id="8" name="Text 6"/>
          <p:cNvSpPr/>
          <p:nvPr/>
        </p:nvSpPr>
        <p:spPr>
          <a:xfrm>
            <a:off x="6281928" y="1703832"/>
            <a:ext cx="2514600" cy="292608"/>
          </a:xfrm>
          <a:prstGeom prst="rect">
            <a:avLst/>
          </a:prstGeom>
          <a:noFill/>
          <a:ln/>
        </p:spPr>
        <p:txBody>
          <a:bodyPr wrap="square" rtlCol="0" anchor="t"/>
          <a:lstStyle/>
          <a:p>
            <a:pPr marL="0" indent="0" algn="l">
              <a:buNone/>
            </a:pPr>
            <a:r>
              <a:rPr lang="en-US" sz="950" dirty="0">
                <a:solidFill>
                  <a:srgbClr val="555555"/>
                </a:solidFill>
                <a:latin typeface="Arial" pitchFamily="34" charset="0"/>
                <a:ea typeface="Arial" pitchFamily="34" charset="-122"/>
                <a:cs typeface="Arial" pitchFamily="34" charset="-120"/>
              </a:rPr>
              <a:t>8-bit &amp; 16-bit, tăng trưởng chậm nhưng ổn định</a:t>
            </a:r>
            <a:endParaRPr lang="en-US" sz="950" dirty="0"/>
          </a:p>
        </p:txBody>
      </p:sp>
      <p:sp>
        <p:nvSpPr>
          <p:cNvPr id="9" name="Shape 7"/>
          <p:cNvSpPr/>
          <p:nvPr/>
        </p:nvSpPr>
        <p:spPr>
          <a:xfrm>
            <a:off x="6144768" y="2234184"/>
            <a:ext cx="2743200" cy="914400"/>
          </a:xfrm>
          <a:prstGeom prst="roundRect">
            <a:avLst>
              <a:gd name="adj" fmla="val 10000"/>
            </a:avLst>
          </a:prstGeom>
          <a:solidFill>
            <a:srgbClr val="F0F5FB"/>
          </a:solidFill>
          <a:ln/>
          <a:effectLst>
            <a:outerShdw blurRad="101600" dist="38100" dir="2700000" algn="bl" rotWithShape="0">
              <a:srgbClr val="000000">
                <a:alpha val="12000"/>
              </a:srgbClr>
            </a:outerShdw>
          </a:effectLst>
        </p:spPr>
      </p:sp>
      <p:sp>
        <p:nvSpPr>
          <p:cNvPr id="10" name="Shape 8"/>
          <p:cNvSpPr/>
          <p:nvPr/>
        </p:nvSpPr>
        <p:spPr>
          <a:xfrm>
            <a:off x="6281928" y="2307336"/>
            <a:ext cx="384048" cy="384048"/>
          </a:xfrm>
          <a:prstGeom prst="ellipse">
            <a:avLst/>
          </a:prstGeom>
          <a:solidFill>
            <a:srgbClr val="3DAA6E"/>
          </a:solidFill>
          <a:ln w="12700">
            <a:solidFill>
              <a:srgbClr val="3DAA6E"/>
            </a:solidFill>
            <a:prstDash val="solid"/>
          </a:ln>
        </p:spPr>
      </p:sp>
      <p:sp>
        <p:nvSpPr>
          <p:cNvPr id="11" name="Text 9"/>
          <p:cNvSpPr/>
          <p:nvPr/>
        </p:nvSpPr>
        <p:spPr>
          <a:xfrm>
            <a:off x="6766560" y="2307336"/>
            <a:ext cx="1993392" cy="256032"/>
          </a:xfrm>
          <a:prstGeom prst="rect">
            <a:avLst/>
          </a:prstGeom>
          <a:noFill/>
          <a:ln/>
        </p:spPr>
        <p:txBody>
          <a:bodyPr wrap="square" rtlCol="0" anchor="ctr"/>
          <a:lstStyle/>
          <a:p>
            <a:pPr marL="0" indent="0">
              <a:buNone/>
            </a:pPr>
            <a:r>
              <a:rPr lang="en-US" sz="1000" b="1" dirty="0">
                <a:solidFill>
                  <a:srgbClr val="3DAA6E"/>
                </a:solidFill>
                <a:latin typeface="Arial" pitchFamily="34" charset="0"/>
                <a:ea typeface="Arial" pitchFamily="34" charset="-122"/>
                <a:cs typeface="Arial" pitchFamily="34" charset="-120"/>
              </a:rPr>
              <a:t>1996–2008</a:t>
            </a:r>
            <a:endParaRPr lang="en-US" sz="1000" dirty="0"/>
          </a:p>
        </p:txBody>
      </p:sp>
      <p:sp>
        <p:nvSpPr>
          <p:cNvPr id="12" name="Text 10"/>
          <p:cNvSpPr/>
          <p:nvPr/>
        </p:nvSpPr>
        <p:spPr>
          <a:xfrm>
            <a:off x="6766560" y="2563368"/>
            <a:ext cx="1993392" cy="237744"/>
          </a:xfrm>
          <a:prstGeom prst="rect">
            <a:avLst/>
          </a:prstGeom>
          <a:noFill/>
          <a:ln/>
        </p:spPr>
        <p:txBody>
          <a:bodyPr wrap="square" rtlCol="0" anchor="ctr"/>
          <a:lstStyle/>
          <a:p>
            <a:pPr marL="0" indent="0">
              <a:buNone/>
            </a:pPr>
            <a:r>
              <a:rPr lang="en-US" sz="1050" b="1" dirty="0">
                <a:solidFill>
                  <a:srgbClr val="1A2C5B"/>
                </a:solidFill>
                <a:latin typeface="Arial" pitchFamily="34" charset="0"/>
                <a:ea typeface="Arial" pitchFamily="34" charset="-122"/>
                <a:cs typeface="Arial" pitchFamily="34" charset="-120"/>
              </a:rPr>
              <a:t>Đỉnh Hoàng Kim</a:t>
            </a:r>
            <a:endParaRPr lang="en-US" sz="1050" dirty="0"/>
          </a:p>
        </p:txBody>
      </p:sp>
      <p:sp>
        <p:nvSpPr>
          <p:cNvPr id="13" name="Text 11"/>
          <p:cNvSpPr/>
          <p:nvPr/>
        </p:nvSpPr>
        <p:spPr>
          <a:xfrm>
            <a:off x="6281928" y="2801112"/>
            <a:ext cx="2514600" cy="292608"/>
          </a:xfrm>
          <a:prstGeom prst="rect">
            <a:avLst/>
          </a:prstGeom>
          <a:noFill/>
          <a:ln/>
        </p:spPr>
        <p:txBody>
          <a:bodyPr wrap="square" rtlCol="0" anchor="t"/>
          <a:lstStyle/>
          <a:p>
            <a:pPr marL="0" indent="0" algn="l">
              <a:buNone/>
            </a:pPr>
            <a:r>
              <a:rPr lang="en-US" sz="950" dirty="0">
                <a:solidFill>
                  <a:srgbClr val="555555"/>
                </a:solidFill>
                <a:latin typeface="Arial" pitchFamily="34" charset="0"/>
                <a:ea typeface="Arial" pitchFamily="34" charset="-122"/>
                <a:cs typeface="Arial" pitchFamily="34" charset="-120"/>
              </a:rPr>
              <a:t>Bùng nổ đồ họa 3D, đạt đỉnh 678.9M USD (2008)</a:t>
            </a:r>
            <a:endParaRPr lang="en-US" sz="950" dirty="0"/>
          </a:p>
        </p:txBody>
      </p:sp>
      <p:sp>
        <p:nvSpPr>
          <p:cNvPr id="14" name="Shape 12"/>
          <p:cNvSpPr/>
          <p:nvPr/>
        </p:nvSpPr>
        <p:spPr>
          <a:xfrm>
            <a:off x="6144768" y="3329940"/>
            <a:ext cx="2743200" cy="914400"/>
          </a:xfrm>
          <a:prstGeom prst="roundRect">
            <a:avLst>
              <a:gd name="adj" fmla="val 10000"/>
            </a:avLst>
          </a:prstGeom>
          <a:solidFill>
            <a:srgbClr val="F0F5FB"/>
          </a:solidFill>
          <a:ln/>
          <a:effectLst>
            <a:outerShdw blurRad="101600" dist="38100" dir="2700000" algn="bl" rotWithShape="0">
              <a:srgbClr val="000000">
                <a:alpha val="12000"/>
              </a:srgbClr>
            </a:outerShdw>
          </a:effectLst>
        </p:spPr>
      </p:sp>
      <p:sp>
        <p:nvSpPr>
          <p:cNvPr id="15" name="Shape 13"/>
          <p:cNvSpPr/>
          <p:nvPr/>
        </p:nvSpPr>
        <p:spPr>
          <a:xfrm>
            <a:off x="6281928" y="3403092"/>
            <a:ext cx="384048" cy="384048"/>
          </a:xfrm>
          <a:prstGeom prst="ellipse">
            <a:avLst/>
          </a:prstGeom>
          <a:solidFill>
            <a:srgbClr val="E8543A"/>
          </a:solidFill>
          <a:ln w="12700">
            <a:solidFill>
              <a:srgbClr val="E8543A"/>
            </a:solidFill>
            <a:prstDash val="solid"/>
          </a:ln>
        </p:spPr>
      </p:sp>
      <p:sp>
        <p:nvSpPr>
          <p:cNvPr id="16" name="Text 14"/>
          <p:cNvSpPr/>
          <p:nvPr/>
        </p:nvSpPr>
        <p:spPr>
          <a:xfrm>
            <a:off x="6766560" y="3403092"/>
            <a:ext cx="1993392" cy="256032"/>
          </a:xfrm>
          <a:prstGeom prst="rect">
            <a:avLst/>
          </a:prstGeom>
          <a:noFill/>
          <a:ln/>
        </p:spPr>
        <p:txBody>
          <a:bodyPr wrap="square" rtlCol="0" anchor="ctr"/>
          <a:lstStyle/>
          <a:p>
            <a:pPr marL="0" indent="0">
              <a:buNone/>
            </a:pPr>
            <a:r>
              <a:rPr lang="en-US" sz="1000" b="1" dirty="0">
                <a:solidFill>
                  <a:srgbClr val="E8543A"/>
                </a:solidFill>
                <a:latin typeface="Arial" pitchFamily="34" charset="0"/>
                <a:ea typeface="Arial" pitchFamily="34" charset="-122"/>
                <a:cs typeface="Arial" pitchFamily="34" charset="-120"/>
              </a:rPr>
              <a:t>Sau 2011</a:t>
            </a:r>
            <a:endParaRPr lang="en-US" sz="1000" dirty="0"/>
          </a:p>
        </p:txBody>
      </p:sp>
      <p:sp>
        <p:nvSpPr>
          <p:cNvPr id="17" name="Text 15"/>
          <p:cNvSpPr/>
          <p:nvPr/>
        </p:nvSpPr>
        <p:spPr>
          <a:xfrm>
            <a:off x="6766560" y="3659124"/>
            <a:ext cx="1993392" cy="237744"/>
          </a:xfrm>
          <a:prstGeom prst="rect">
            <a:avLst/>
          </a:prstGeom>
          <a:noFill/>
          <a:ln/>
        </p:spPr>
        <p:txBody>
          <a:bodyPr wrap="square" rtlCol="0" anchor="ctr"/>
          <a:lstStyle/>
          <a:p>
            <a:pPr marL="0" indent="0">
              <a:buNone/>
            </a:pPr>
            <a:r>
              <a:rPr lang="en-US" sz="1050" b="1" dirty="0">
                <a:solidFill>
                  <a:srgbClr val="1A2C5B"/>
                </a:solidFill>
                <a:latin typeface="Arial" pitchFamily="34" charset="0"/>
                <a:ea typeface="Arial" pitchFamily="34" charset="-122"/>
                <a:cs typeface="Arial" pitchFamily="34" charset="-120"/>
              </a:rPr>
              <a:t>Thoái Trào Đĩa Vật Lý</a:t>
            </a:r>
            <a:endParaRPr lang="en-US" sz="1050" dirty="0"/>
          </a:p>
        </p:txBody>
      </p:sp>
      <p:sp>
        <p:nvSpPr>
          <p:cNvPr id="18" name="Text 16"/>
          <p:cNvSpPr/>
          <p:nvPr/>
        </p:nvSpPr>
        <p:spPr>
          <a:xfrm>
            <a:off x="6281928" y="3896868"/>
            <a:ext cx="2514600" cy="292608"/>
          </a:xfrm>
          <a:prstGeom prst="rect">
            <a:avLst/>
          </a:prstGeom>
          <a:noFill/>
          <a:ln/>
        </p:spPr>
        <p:txBody>
          <a:bodyPr wrap="square" rtlCol="0" anchor="t"/>
          <a:lstStyle/>
          <a:p>
            <a:pPr marL="0" indent="0" algn="l">
              <a:buNone/>
            </a:pPr>
            <a:r>
              <a:rPr lang="en-US" sz="950" dirty="0">
                <a:solidFill>
                  <a:srgbClr val="555555"/>
                </a:solidFill>
                <a:latin typeface="Arial" pitchFamily="34" charset="0"/>
                <a:ea typeface="Arial" pitchFamily="34" charset="-122"/>
                <a:cs typeface="Arial" pitchFamily="34" charset="-120"/>
              </a:rPr>
              <a:t>Sụt giảm do Digital Distribution &amp; Mobile Gaming</a:t>
            </a:r>
            <a:endParaRPr lang="en-US" sz="950" dirty="0"/>
          </a:p>
        </p:txBody>
      </p:sp>
      <p:pic>
        <p:nvPicPr>
          <p:cNvPr id="19" name="Hình ảnh 18">
            <a:extLst>
              <a:ext uri="{FF2B5EF4-FFF2-40B4-BE49-F238E27FC236}">
                <a16:creationId xmlns:a16="http://schemas.microsoft.com/office/drawing/2014/main" id="{5A6727D5-588D-F3F2-4DC0-4FBB30135819}"/>
              </a:ext>
            </a:extLst>
          </p:cNvPr>
          <p:cNvPicPr>
            <a:picLocks noChangeAspect="1"/>
          </p:cNvPicPr>
          <p:nvPr/>
        </p:nvPicPr>
        <p:blipFill>
          <a:blip r:embed="rId3"/>
          <a:stretch>
            <a:fillRect/>
          </a:stretch>
        </p:blipFill>
        <p:spPr>
          <a:xfrm>
            <a:off x="224028" y="950976"/>
            <a:ext cx="5852160" cy="405268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5">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235744" y="292894"/>
            <a:ext cx="8908256" cy="388334"/>
          </a:xfrm>
          <a:prstGeom prst="rect">
            <a:avLst/>
          </a:prstGeom>
          <a:noFill/>
          <a:ln/>
        </p:spPr>
        <p:txBody>
          <a:bodyPr wrap="square" rtlCol="0" anchor="ctr"/>
          <a:lstStyle/>
          <a:p>
            <a:pPr marL="0" indent="0">
              <a:buNone/>
            </a:pPr>
            <a:r>
              <a:rPr lang="en-US" sz="2400" b="1">
                <a:solidFill>
                  <a:srgbClr val="1A2C5B"/>
                </a:solidFill>
                <a:latin typeface="Arial" pitchFamily="34" charset="0"/>
                <a:ea typeface="Arial" pitchFamily="34" charset="-122"/>
                <a:cs typeface="Arial" pitchFamily="34" charset="-120"/>
              </a:rPr>
              <a:t>Q6: MÔ HÌNH HỒI QUY— DỰ ĐOÁN DOANH SỐ</a:t>
            </a:r>
          </a:p>
          <a:p>
            <a:pPr marL="0" indent="0">
              <a:buNone/>
            </a:pPr>
            <a:endParaRPr lang="en-US" sz="2400" dirty="0"/>
          </a:p>
        </p:txBody>
      </p:sp>
      <p:sp>
        <p:nvSpPr>
          <p:cNvPr id="3" name="Text 1"/>
          <p:cNvSpPr/>
          <p:nvPr/>
        </p:nvSpPr>
        <p:spPr>
          <a:xfrm>
            <a:off x="365760" y="694944"/>
            <a:ext cx="8412480" cy="256032"/>
          </a:xfrm>
          <a:prstGeom prst="rect">
            <a:avLst/>
          </a:prstGeom>
          <a:noFill/>
          <a:ln/>
        </p:spPr>
        <p:txBody>
          <a:bodyPr wrap="square" rtlCol="0" anchor="ctr"/>
          <a:lstStyle/>
          <a:p>
            <a:pPr marL="0" indent="0">
              <a:buNone/>
            </a:pPr>
            <a:r>
              <a:rPr lang="en-US" sz="1100" i="1" dirty="0">
                <a:solidFill>
                  <a:srgbClr val="64748B"/>
                </a:solidFill>
                <a:latin typeface="Arial" pitchFamily="34" charset="0"/>
                <a:ea typeface="Arial" pitchFamily="34" charset="-122"/>
                <a:cs typeface="Arial" pitchFamily="34" charset="-120"/>
              </a:rPr>
              <a:t>So sánh năng lực thực nghiệm của 3 thuật toán — tập Train/Test (80/20) đã chuẩn hóa đặc trưng</a:t>
            </a:r>
            <a:endParaRPr lang="en-US" sz="1100" dirty="0"/>
          </a:p>
        </p:txBody>
      </p:sp>
      <p:pic>
        <p:nvPicPr>
          <p:cNvPr id="24" name="Hình ảnh 23">
            <a:extLst>
              <a:ext uri="{FF2B5EF4-FFF2-40B4-BE49-F238E27FC236}">
                <a16:creationId xmlns:a16="http://schemas.microsoft.com/office/drawing/2014/main" id="{A4CC0438-FA0D-6057-F7D3-94426AA0597A}"/>
              </a:ext>
            </a:extLst>
          </p:cNvPr>
          <p:cNvPicPr>
            <a:picLocks noChangeAspect="1"/>
          </p:cNvPicPr>
          <p:nvPr/>
        </p:nvPicPr>
        <p:blipFill>
          <a:blip r:embed="rId3"/>
          <a:stretch>
            <a:fillRect/>
          </a:stretch>
        </p:blipFill>
        <p:spPr>
          <a:xfrm>
            <a:off x="292608" y="1092960"/>
            <a:ext cx="8277308" cy="2578249"/>
          </a:xfrm>
          <a:prstGeom prst="rect">
            <a:avLst/>
          </a:prstGeom>
        </p:spPr>
      </p:pic>
      <p:sp>
        <p:nvSpPr>
          <p:cNvPr id="25" name="Shape 1">
            <a:extLst>
              <a:ext uri="{FF2B5EF4-FFF2-40B4-BE49-F238E27FC236}">
                <a16:creationId xmlns:a16="http://schemas.microsoft.com/office/drawing/2014/main" id="{9AA2A74E-B510-5410-AB28-72AE05FA80D4}"/>
              </a:ext>
            </a:extLst>
          </p:cNvPr>
          <p:cNvSpPr/>
          <p:nvPr/>
        </p:nvSpPr>
        <p:spPr>
          <a:xfrm>
            <a:off x="365760" y="4206240"/>
            <a:ext cx="2743200" cy="822960"/>
          </a:xfrm>
          <a:prstGeom prst="roundRect">
            <a:avLst>
              <a:gd name="adj" fmla="val 8889"/>
            </a:avLst>
          </a:prstGeom>
          <a:solidFill>
            <a:srgbClr val="2D6A9F"/>
          </a:solidFill>
          <a:ln/>
        </p:spPr>
      </p:sp>
      <p:sp>
        <p:nvSpPr>
          <p:cNvPr id="26" name="Text 2">
            <a:extLst>
              <a:ext uri="{FF2B5EF4-FFF2-40B4-BE49-F238E27FC236}">
                <a16:creationId xmlns:a16="http://schemas.microsoft.com/office/drawing/2014/main" id="{83B02813-CD7A-ACD1-5909-7FD68CC6B150}"/>
              </a:ext>
            </a:extLst>
          </p:cNvPr>
          <p:cNvSpPr/>
          <p:nvPr/>
        </p:nvSpPr>
        <p:spPr>
          <a:xfrm>
            <a:off x="365760" y="4224528"/>
            <a:ext cx="2743200" cy="320040"/>
          </a:xfrm>
          <a:prstGeom prst="rect">
            <a:avLst/>
          </a:prstGeom>
          <a:noFill/>
          <a:ln/>
        </p:spPr>
        <p:txBody>
          <a:bodyPr wrap="square" rtlCol="0" anchor="ctr"/>
          <a:lstStyle/>
          <a:p>
            <a:pPr marL="0" indent="0" algn="ctr">
              <a:buNone/>
            </a:pPr>
            <a:r>
              <a:rPr lang="en-US" b="1" dirty="0">
                <a:solidFill>
                  <a:srgbClr val="FFFFFF"/>
                </a:solidFill>
              </a:rPr>
              <a:t>Linear Regression</a:t>
            </a:r>
            <a:endParaRPr lang="en-US" dirty="0"/>
          </a:p>
        </p:txBody>
      </p:sp>
      <p:sp>
        <p:nvSpPr>
          <p:cNvPr id="27" name="Text 3">
            <a:extLst>
              <a:ext uri="{FF2B5EF4-FFF2-40B4-BE49-F238E27FC236}">
                <a16:creationId xmlns:a16="http://schemas.microsoft.com/office/drawing/2014/main" id="{0DDA2C4A-99A3-C234-6941-98328367EB78}"/>
              </a:ext>
            </a:extLst>
          </p:cNvPr>
          <p:cNvSpPr/>
          <p:nvPr/>
        </p:nvSpPr>
        <p:spPr>
          <a:xfrm>
            <a:off x="365760" y="4553712"/>
            <a:ext cx="2743200" cy="320040"/>
          </a:xfrm>
          <a:prstGeom prst="rect">
            <a:avLst/>
          </a:prstGeom>
          <a:noFill/>
          <a:ln/>
        </p:spPr>
        <p:txBody>
          <a:bodyPr wrap="square" rtlCol="0" anchor="ctr"/>
          <a:lstStyle/>
          <a:p>
            <a:pPr marL="0" indent="0" algn="ctr">
              <a:buNone/>
            </a:pPr>
            <a:r>
              <a:rPr lang="en-US">
                <a:solidFill>
                  <a:srgbClr val="FFFFFF"/>
                </a:solidFill>
              </a:rPr>
              <a:t>R²=0.0034   RMSE=2.0648</a:t>
            </a:r>
            <a:endParaRPr lang="en-US" dirty="0"/>
          </a:p>
        </p:txBody>
      </p:sp>
      <p:sp>
        <p:nvSpPr>
          <p:cNvPr id="28" name="Shape 4">
            <a:extLst>
              <a:ext uri="{FF2B5EF4-FFF2-40B4-BE49-F238E27FC236}">
                <a16:creationId xmlns:a16="http://schemas.microsoft.com/office/drawing/2014/main" id="{13DE4F88-01E1-73F4-9CF6-D54BAF6CC928}"/>
              </a:ext>
            </a:extLst>
          </p:cNvPr>
          <p:cNvSpPr/>
          <p:nvPr/>
        </p:nvSpPr>
        <p:spPr>
          <a:xfrm>
            <a:off x="3246120" y="4206240"/>
            <a:ext cx="2743200" cy="822960"/>
          </a:xfrm>
          <a:prstGeom prst="roundRect">
            <a:avLst>
              <a:gd name="adj" fmla="val 8889"/>
            </a:avLst>
          </a:prstGeom>
          <a:solidFill>
            <a:srgbClr val="3DAA6E"/>
          </a:solidFill>
          <a:ln/>
        </p:spPr>
      </p:sp>
      <p:sp>
        <p:nvSpPr>
          <p:cNvPr id="29" name="Text 5">
            <a:extLst>
              <a:ext uri="{FF2B5EF4-FFF2-40B4-BE49-F238E27FC236}">
                <a16:creationId xmlns:a16="http://schemas.microsoft.com/office/drawing/2014/main" id="{552C67EA-C43E-9BE5-405E-0F07A324DA13}"/>
              </a:ext>
            </a:extLst>
          </p:cNvPr>
          <p:cNvSpPr/>
          <p:nvPr/>
        </p:nvSpPr>
        <p:spPr>
          <a:xfrm>
            <a:off x="3246120" y="4224528"/>
            <a:ext cx="2743200" cy="320040"/>
          </a:xfrm>
          <a:prstGeom prst="rect">
            <a:avLst/>
          </a:prstGeom>
          <a:noFill/>
          <a:ln/>
        </p:spPr>
        <p:txBody>
          <a:bodyPr wrap="square" rtlCol="0" anchor="ctr"/>
          <a:lstStyle/>
          <a:p>
            <a:pPr marL="0" indent="0" algn="ctr">
              <a:buNone/>
            </a:pPr>
            <a:r>
              <a:rPr lang="en-US" b="1" dirty="0">
                <a:solidFill>
                  <a:srgbClr val="FFFFFF"/>
                </a:solidFill>
              </a:rPr>
              <a:t>Random Forest</a:t>
            </a:r>
            <a:endParaRPr lang="en-US" dirty="0"/>
          </a:p>
        </p:txBody>
      </p:sp>
      <p:sp>
        <p:nvSpPr>
          <p:cNvPr id="30" name="Text 6">
            <a:extLst>
              <a:ext uri="{FF2B5EF4-FFF2-40B4-BE49-F238E27FC236}">
                <a16:creationId xmlns:a16="http://schemas.microsoft.com/office/drawing/2014/main" id="{123D88BF-0E13-C565-EA2B-952124DB39AF}"/>
              </a:ext>
            </a:extLst>
          </p:cNvPr>
          <p:cNvSpPr/>
          <p:nvPr/>
        </p:nvSpPr>
        <p:spPr>
          <a:xfrm>
            <a:off x="3246120" y="4553712"/>
            <a:ext cx="2743200" cy="320040"/>
          </a:xfrm>
          <a:prstGeom prst="rect">
            <a:avLst/>
          </a:prstGeom>
          <a:noFill/>
          <a:ln/>
        </p:spPr>
        <p:txBody>
          <a:bodyPr wrap="square" rtlCol="0" anchor="ctr"/>
          <a:lstStyle/>
          <a:p>
            <a:pPr marL="0" indent="0" algn="ctr">
              <a:buNone/>
            </a:pPr>
            <a:r>
              <a:rPr lang="en-US">
                <a:solidFill>
                  <a:srgbClr val="FFFFFF"/>
                </a:solidFill>
              </a:rPr>
              <a:t>R²=0.0276   RMSE=2.0396</a:t>
            </a:r>
            <a:endParaRPr lang="en-US" dirty="0"/>
          </a:p>
        </p:txBody>
      </p:sp>
      <p:sp>
        <p:nvSpPr>
          <p:cNvPr id="31" name="Shape 7">
            <a:extLst>
              <a:ext uri="{FF2B5EF4-FFF2-40B4-BE49-F238E27FC236}">
                <a16:creationId xmlns:a16="http://schemas.microsoft.com/office/drawing/2014/main" id="{8AD6AC86-D719-45B9-FD03-7D66D7FDA309}"/>
              </a:ext>
            </a:extLst>
          </p:cNvPr>
          <p:cNvSpPr/>
          <p:nvPr/>
        </p:nvSpPr>
        <p:spPr>
          <a:xfrm>
            <a:off x="6126480" y="4206240"/>
            <a:ext cx="2743200" cy="822960"/>
          </a:xfrm>
          <a:prstGeom prst="roundRect">
            <a:avLst>
              <a:gd name="adj" fmla="val 8889"/>
            </a:avLst>
          </a:prstGeom>
          <a:solidFill>
            <a:srgbClr val="E8543A"/>
          </a:solidFill>
          <a:ln/>
        </p:spPr>
      </p:sp>
      <p:sp>
        <p:nvSpPr>
          <p:cNvPr id="32" name="Text 8">
            <a:extLst>
              <a:ext uri="{FF2B5EF4-FFF2-40B4-BE49-F238E27FC236}">
                <a16:creationId xmlns:a16="http://schemas.microsoft.com/office/drawing/2014/main" id="{116F7EBC-415D-2277-B964-A83837CEFA50}"/>
              </a:ext>
            </a:extLst>
          </p:cNvPr>
          <p:cNvSpPr/>
          <p:nvPr/>
        </p:nvSpPr>
        <p:spPr>
          <a:xfrm>
            <a:off x="6126480" y="4224528"/>
            <a:ext cx="2743200" cy="320040"/>
          </a:xfrm>
          <a:prstGeom prst="rect">
            <a:avLst/>
          </a:prstGeom>
          <a:noFill/>
          <a:ln/>
        </p:spPr>
        <p:txBody>
          <a:bodyPr wrap="square" rtlCol="0" anchor="ctr"/>
          <a:lstStyle/>
          <a:p>
            <a:pPr marL="0" indent="0" algn="ctr">
              <a:buNone/>
            </a:pPr>
            <a:r>
              <a:rPr lang="en-US" b="1" dirty="0">
                <a:solidFill>
                  <a:srgbClr val="FFFFFF"/>
                </a:solidFill>
              </a:rPr>
              <a:t>Gradient Boosting</a:t>
            </a:r>
            <a:endParaRPr lang="en-US" dirty="0"/>
          </a:p>
        </p:txBody>
      </p:sp>
      <p:sp>
        <p:nvSpPr>
          <p:cNvPr id="33" name="Text 9">
            <a:extLst>
              <a:ext uri="{FF2B5EF4-FFF2-40B4-BE49-F238E27FC236}">
                <a16:creationId xmlns:a16="http://schemas.microsoft.com/office/drawing/2014/main" id="{CFFB553D-D8A2-552A-13BD-39AECC81C538}"/>
              </a:ext>
            </a:extLst>
          </p:cNvPr>
          <p:cNvSpPr/>
          <p:nvPr/>
        </p:nvSpPr>
        <p:spPr>
          <a:xfrm>
            <a:off x="6126480" y="4553712"/>
            <a:ext cx="2743200" cy="320040"/>
          </a:xfrm>
          <a:prstGeom prst="rect">
            <a:avLst/>
          </a:prstGeom>
          <a:noFill/>
          <a:ln/>
        </p:spPr>
        <p:txBody>
          <a:bodyPr wrap="square" rtlCol="0" anchor="ctr"/>
          <a:lstStyle/>
          <a:p>
            <a:pPr marL="0" indent="0" algn="ctr">
              <a:buNone/>
            </a:pPr>
            <a:r>
              <a:rPr lang="en-US">
                <a:solidFill>
                  <a:srgbClr val="FFFFFF"/>
                </a:solidFill>
              </a:rPr>
              <a:t>R²=0.0725   </a:t>
            </a:r>
            <a:r>
              <a:rPr lang="en-US" dirty="0">
                <a:solidFill>
                  <a:srgbClr val="FFFFFF"/>
                </a:solidFill>
              </a:rPr>
              <a:t>RMSE</a:t>
            </a:r>
            <a:r>
              <a:rPr lang="en-US">
                <a:solidFill>
                  <a:srgbClr val="FFFFFF"/>
                </a:solidFill>
              </a:rPr>
              <a:t>=0.5405</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7">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30352"/>
          </a:xfrm>
          <a:prstGeom prst="rect">
            <a:avLst/>
          </a:prstGeom>
          <a:noFill/>
          <a:ln/>
        </p:spPr>
        <p:txBody>
          <a:bodyPr wrap="square" rtlCol="0" anchor="ctr"/>
          <a:lstStyle/>
          <a:p>
            <a:pPr marL="0" indent="0">
              <a:lnSpc>
                <a:spcPct val="150000"/>
              </a:lnSpc>
              <a:buNone/>
            </a:pPr>
            <a:r>
              <a:rPr lang="en-US" sz="2400" b="1" dirty="0">
                <a:solidFill>
                  <a:srgbClr val="1A2C5B"/>
                </a:solidFill>
                <a:latin typeface="Arial" pitchFamily="34" charset="0"/>
                <a:ea typeface="Arial" pitchFamily="34" charset="-122"/>
                <a:cs typeface="Arial" pitchFamily="34" charset="-120"/>
              </a:rPr>
              <a:t>PHÂN TÍCH MỨC ĐỘ QUAN TRỌNG ĐẶC TRƯNG</a:t>
            </a:r>
            <a:endParaRPr lang="en-US" sz="2400" dirty="0"/>
          </a:p>
        </p:txBody>
      </p:sp>
      <p:sp>
        <p:nvSpPr>
          <p:cNvPr id="3" name="Text 1"/>
          <p:cNvSpPr/>
          <p:nvPr/>
        </p:nvSpPr>
        <p:spPr>
          <a:xfrm>
            <a:off x="365760" y="836632"/>
            <a:ext cx="8412480" cy="256032"/>
          </a:xfrm>
          <a:prstGeom prst="rect">
            <a:avLst/>
          </a:prstGeom>
          <a:noFill/>
          <a:ln/>
        </p:spPr>
        <p:txBody>
          <a:bodyPr wrap="square" rtlCol="0" anchor="ctr"/>
          <a:lstStyle/>
          <a:p>
            <a:pPr marL="0" indent="0">
              <a:lnSpc>
                <a:spcPct val="150000"/>
              </a:lnSpc>
              <a:buNone/>
            </a:pPr>
            <a:r>
              <a:rPr lang="vi-VN" sz="1100" i="1">
                <a:solidFill>
                  <a:srgbClr val="64748B"/>
                </a:solidFill>
                <a:latin typeface="Arial" pitchFamily="34" charset="0"/>
                <a:ea typeface="Arial" pitchFamily="34" charset="-122"/>
                <a:cs typeface="Arial" pitchFamily="34" charset="-120"/>
              </a:rPr>
              <a:t>Feature Importance từ Random Forest Regressor – Đánh giá mức độ đóng góp của các đặc trưng đầu vào trong dự đoán doanh số toàn cầu</a:t>
            </a:r>
            <a:endParaRPr lang="en-US" sz="1100" dirty="0"/>
          </a:p>
        </p:txBody>
      </p:sp>
      <p:sp>
        <p:nvSpPr>
          <p:cNvPr id="4" name="Shape 2"/>
          <p:cNvSpPr/>
          <p:nvPr/>
        </p:nvSpPr>
        <p:spPr>
          <a:xfrm>
            <a:off x="5989320" y="1019218"/>
            <a:ext cx="3090672" cy="3959690"/>
          </a:xfrm>
          <a:prstGeom prst="roundRect">
            <a:avLst>
              <a:gd name="adj" fmla="val 2959"/>
            </a:avLst>
          </a:prstGeom>
          <a:solidFill>
            <a:srgbClr val="FFFFFF"/>
          </a:solidFill>
          <a:ln/>
          <a:effectLst>
            <a:outerShdw blurRad="101600" dist="38100" dir="2700000" algn="bl" rotWithShape="0">
              <a:srgbClr val="000000">
                <a:alpha val="12000"/>
              </a:srgbClr>
            </a:outerShdw>
          </a:effectLst>
        </p:spPr>
      </p:sp>
      <p:sp>
        <p:nvSpPr>
          <p:cNvPr id="5" name="Shape 3"/>
          <p:cNvSpPr/>
          <p:nvPr/>
        </p:nvSpPr>
        <p:spPr>
          <a:xfrm>
            <a:off x="5971371" y="1019218"/>
            <a:ext cx="3090672" cy="365760"/>
          </a:xfrm>
          <a:prstGeom prst="rect">
            <a:avLst/>
          </a:prstGeom>
          <a:solidFill>
            <a:srgbClr val="2D6A9F"/>
          </a:solidFill>
          <a:ln/>
        </p:spPr>
      </p:sp>
      <p:sp>
        <p:nvSpPr>
          <p:cNvPr id="6" name="Text 4"/>
          <p:cNvSpPr/>
          <p:nvPr/>
        </p:nvSpPr>
        <p:spPr>
          <a:xfrm>
            <a:off x="6090243" y="1046650"/>
            <a:ext cx="2852928" cy="310896"/>
          </a:xfrm>
          <a:prstGeom prst="rect">
            <a:avLst/>
          </a:prstGeom>
          <a:noFill/>
          <a:ln/>
        </p:spPr>
        <p:txBody>
          <a:bodyPr wrap="square" rtlCol="0" anchor="ctr"/>
          <a:lstStyle/>
          <a:p>
            <a:pPr marL="0" indent="0" algn="ctr">
              <a:lnSpc>
                <a:spcPct val="150000"/>
              </a:lnSpc>
              <a:buNone/>
            </a:pPr>
            <a:r>
              <a:rPr lang="en-US" sz="1200" b="1">
                <a:solidFill>
                  <a:srgbClr val="FFFFFF"/>
                </a:solidFill>
                <a:latin typeface="Arial" pitchFamily="34" charset="0"/>
                <a:ea typeface="Arial" pitchFamily="34" charset="-122"/>
                <a:cs typeface="Arial" pitchFamily="34" charset="-120"/>
              </a:rPr>
              <a:t>Phân tích kết quả</a:t>
            </a:r>
            <a:endParaRPr lang="en-US" sz="1200" dirty="0"/>
          </a:p>
        </p:txBody>
      </p:sp>
      <p:sp>
        <p:nvSpPr>
          <p:cNvPr id="7" name="Shape 5"/>
          <p:cNvSpPr/>
          <p:nvPr/>
        </p:nvSpPr>
        <p:spPr>
          <a:xfrm>
            <a:off x="6108192" y="1536530"/>
            <a:ext cx="2852928" cy="1104731"/>
          </a:xfrm>
          <a:prstGeom prst="roundRect">
            <a:avLst>
              <a:gd name="adj" fmla="val 12500"/>
            </a:avLst>
          </a:prstGeom>
          <a:solidFill>
            <a:srgbClr val="F0F5FB"/>
          </a:solidFill>
          <a:ln/>
          <a:effectLst>
            <a:outerShdw blurRad="101600" dist="38100" dir="2700000" algn="bl" rotWithShape="0">
              <a:srgbClr val="000000">
                <a:alpha val="12000"/>
              </a:srgbClr>
            </a:outerShdw>
          </a:effectLst>
        </p:spPr>
      </p:sp>
      <p:sp>
        <p:nvSpPr>
          <p:cNvPr id="10" name="Text 8"/>
          <p:cNvSpPr/>
          <p:nvPr/>
        </p:nvSpPr>
        <p:spPr>
          <a:xfrm>
            <a:off x="6108193" y="1591395"/>
            <a:ext cx="2834978" cy="1049866"/>
          </a:xfrm>
          <a:prstGeom prst="rect">
            <a:avLst/>
          </a:prstGeom>
          <a:noFill/>
          <a:ln/>
        </p:spPr>
        <p:txBody>
          <a:bodyPr wrap="square" rtlCol="0" anchor="t"/>
          <a:lstStyle/>
          <a:p>
            <a:pPr marL="0" indent="0" algn="l">
              <a:lnSpc>
                <a:spcPct val="150000"/>
              </a:lnSpc>
              <a:buNone/>
            </a:pPr>
            <a:r>
              <a:rPr lang="vi-VN" sz="1000">
                <a:solidFill>
                  <a:srgbClr val="333333"/>
                </a:solidFill>
                <a:latin typeface="Arial" pitchFamily="34" charset="0"/>
                <a:ea typeface="Arial" pitchFamily="34" charset="-122"/>
                <a:cs typeface="Arial" pitchFamily="34" charset="-120"/>
              </a:rPr>
              <a:t>Year là đặc trưng quan trọng nhất (40.6%) trong mô hình Random Forest. Điều này cho thấy thời điểm phát hành có ảnh hưởng lớn đến quá trình dự đoán doanh số toàn cầu.</a:t>
            </a:r>
            <a:endParaRPr lang="en-US" sz="1000" dirty="0"/>
          </a:p>
        </p:txBody>
      </p:sp>
      <p:sp>
        <p:nvSpPr>
          <p:cNvPr id="11" name="Shape 9"/>
          <p:cNvSpPr/>
          <p:nvPr/>
        </p:nvSpPr>
        <p:spPr>
          <a:xfrm>
            <a:off x="6108192" y="2769277"/>
            <a:ext cx="2852928" cy="956055"/>
          </a:xfrm>
          <a:prstGeom prst="roundRect">
            <a:avLst>
              <a:gd name="adj" fmla="val 12500"/>
            </a:avLst>
          </a:prstGeom>
          <a:solidFill>
            <a:srgbClr val="FFFFFF"/>
          </a:solidFill>
          <a:ln/>
          <a:effectLst>
            <a:outerShdw blurRad="101600" dist="38100" dir="2700000" algn="bl" rotWithShape="0">
              <a:srgbClr val="000000">
                <a:alpha val="12000"/>
              </a:srgbClr>
            </a:outerShdw>
          </a:effectLst>
        </p:spPr>
      </p:sp>
      <p:sp>
        <p:nvSpPr>
          <p:cNvPr id="14" name="Text 12"/>
          <p:cNvSpPr/>
          <p:nvPr/>
        </p:nvSpPr>
        <p:spPr>
          <a:xfrm>
            <a:off x="6108193" y="2769278"/>
            <a:ext cx="2770631" cy="956054"/>
          </a:xfrm>
          <a:prstGeom prst="rect">
            <a:avLst/>
          </a:prstGeom>
          <a:noFill/>
          <a:ln/>
        </p:spPr>
        <p:txBody>
          <a:bodyPr wrap="square" rtlCol="0" anchor="t"/>
          <a:lstStyle/>
          <a:p>
            <a:pPr marL="0" indent="0" algn="l">
              <a:lnSpc>
                <a:spcPct val="150000"/>
              </a:lnSpc>
              <a:buNone/>
            </a:pPr>
            <a:r>
              <a:rPr lang="vi-VN" sz="1000">
                <a:solidFill>
                  <a:srgbClr val="333333"/>
                </a:solidFill>
                <a:latin typeface="Arial" pitchFamily="34" charset="0"/>
                <a:ea typeface="Arial" pitchFamily="34" charset="-122"/>
                <a:cs typeface="Arial" pitchFamily="34" charset="-120"/>
              </a:rPr>
              <a:t>Genre (26.9%) và Publisher (20.4%) cũng đóng vai trò đáng kể, phản ánh rằng thể loại trò chơi và nhà phát hành có ảnh hưởng đến khả năng tiêu thụ của game.</a:t>
            </a:r>
            <a:endParaRPr lang="en-US" sz="1000" dirty="0"/>
          </a:p>
        </p:txBody>
      </p:sp>
      <p:sp>
        <p:nvSpPr>
          <p:cNvPr id="15" name="Shape 13"/>
          <p:cNvSpPr/>
          <p:nvPr/>
        </p:nvSpPr>
        <p:spPr>
          <a:xfrm>
            <a:off x="6108192" y="3896699"/>
            <a:ext cx="2852928" cy="956054"/>
          </a:xfrm>
          <a:prstGeom prst="roundRect">
            <a:avLst>
              <a:gd name="adj" fmla="val 12500"/>
            </a:avLst>
          </a:prstGeom>
          <a:solidFill>
            <a:srgbClr val="F0F5FB"/>
          </a:solidFill>
          <a:ln/>
          <a:effectLst>
            <a:outerShdw blurRad="101600" dist="38100" dir="2700000" algn="bl" rotWithShape="0">
              <a:srgbClr val="000000">
                <a:alpha val="12000"/>
              </a:srgbClr>
            </a:outerShdw>
          </a:effectLst>
        </p:spPr>
      </p:sp>
      <p:sp>
        <p:nvSpPr>
          <p:cNvPr id="18" name="Text 16"/>
          <p:cNvSpPr/>
          <p:nvPr/>
        </p:nvSpPr>
        <p:spPr>
          <a:xfrm>
            <a:off x="6108193" y="3853348"/>
            <a:ext cx="2770631" cy="999405"/>
          </a:xfrm>
          <a:prstGeom prst="rect">
            <a:avLst/>
          </a:prstGeom>
          <a:noFill/>
          <a:ln/>
        </p:spPr>
        <p:txBody>
          <a:bodyPr wrap="square" rtlCol="0" anchor="t"/>
          <a:lstStyle/>
          <a:p>
            <a:pPr marL="0" indent="0" algn="l">
              <a:lnSpc>
                <a:spcPct val="150000"/>
              </a:lnSpc>
              <a:buNone/>
            </a:pPr>
            <a:r>
              <a:rPr lang="vi-VN" sz="1000">
                <a:solidFill>
                  <a:srgbClr val="333333"/>
                </a:solidFill>
                <a:latin typeface="Arial" pitchFamily="34" charset="0"/>
                <a:ea typeface="Arial" pitchFamily="34" charset="-122"/>
                <a:cs typeface="Arial" pitchFamily="34" charset="-120"/>
              </a:rPr>
              <a:t>Platform có mức độ quan trọng thấp nhất (12.0%), tuy nhiên vẫn góp phần hỗ trợ mô hình trong việc phân biệt doanh số giữa các nhóm trò chơi trên các hệ máy khác nhau.</a:t>
            </a:r>
            <a:endParaRPr lang="en-US" sz="1000" dirty="0"/>
          </a:p>
        </p:txBody>
      </p:sp>
      <p:sp>
        <p:nvSpPr>
          <p:cNvPr id="19" name="Shape 17"/>
          <p:cNvSpPr/>
          <p:nvPr/>
        </p:nvSpPr>
        <p:spPr>
          <a:xfrm>
            <a:off x="64008" y="4118777"/>
            <a:ext cx="5754285" cy="967996"/>
          </a:xfrm>
          <a:prstGeom prst="roundRect">
            <a:avLst>
              <a:gd name="adj" fmla="val 11364"/>
            </a:avLst>
          </a:prstGeom>
          <a:solidFill>
            <a:srgbClr val="D9E8F5"/>
          </a:solidFill>
          <a:ln/>
          <a:effectLst>
            <a:outerShdw blurRad="101600" dist="38100" dir="2700000" algn="bl" rotWithShape="0">
              <a:srgbClr val="000000">
                <a:alpha val="12000"/>
              </a:srgbClr>
            </a:outerShdw>
          </a:effectLst>
        </p:spPr>
      </p:sp>
      <p:sp>
        <p:nvSpPr>
          <p:cNvPr id="20" name="Text 18"/>
          <p:cNvSpPr/>
          <p:nvPr/>
        </p:nvSpPr>
        <p:spPr>
          <a:xfrm>
            <a:off x="64008" y="4118777"/>
            <a:ext cx="5726853" cy="967996"/>
          </a:xfrm>
          <a:prstGeom prst="rect">
            <a:avLst/>
          </a:prstGeom>
          <a:noFill/>
          <a:ln/>
        </p:spPr>
        <p:txBody>
          <a:bodyPr wrap="square" rtlCol="0" anchor="ctr"/>
          <a:lstStyle/>
          <a:p>
            <a:pPr marL="0" indent="0">
              <a:lnSpc>
                <a:spcPct val="150000"/>
              </a:lnSpc>
              <a:buNone/>
            </a:pPr>
            <a:r>
              <a:rPr lang="vi-VN" sz="1150">
                <a:solidFill>
                  <a:srgbClr val="1A2C5B"/>
                </a:solidFill>
                <a:latin typeface="Arial" pitchFamily="34" charset="0"/>
                <a:ea typeface="Arial" pitchFamily="34" charset="-122"/>
                <a:cs typeface="Arial" pitchFamily="34" charset="-120"/>
              </a:rPr>
              <a:t>Kết luận: Year, Genre, Publisher và Platform đều có đóng góp vào quá trình dự đoán doanh số toàn cầu. Trong đó, Year là đặc trưng quan trọng nhất. Tuy nhiên, hiệu suất dự đoán của mô hình vẫn còn thấp (R² = 0.0276), cho thấy cần bổ sung thêm các đặc trưng khác để nâng cao độ chính xác.</a:t>
            </a:r>
            <a:endParaRPr lang="en-US" sz="1150" dirty="0"/>
          </a:p>
        </p:txBody>
      </p:sp>
      <p:pic>
        <p:nvPicPr>
          <p:cNvPr id="23" name="Hình ảnh 22">
            <a:extLst>
              <a:ext uri="{FF2B5EF4-FFF2-40B4-BE49-F238E27FC236}">
                <a16:creationId xmlns:a16="http://schemas.microsoft.com/office/drawing/2014/main" id="{DEE5452C-8989-1EF6-1043-63ED3AAA8414}"/>
              </a:ext>
            </a:extLst>
          </p:cNvPr>
          <p:cNvPicPr>
            <a:picLocks noChangeAspect="1"/>
          </p:cNvPicPr>
          <p:nvPr/>
        </p:nvPicPr>
        <p:blipFill>
          <a:blip r:embed="rId3"/>
          <a:stretch>
            <a:fillRect/>
          </a:stretch>
        </p:blipFill>
        <p:spPr>
          <a:xfrm>
            <a:off x="252625" y="1273556"/>
            <a:ext cx="5517578" cy="27354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8">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30352"/>
          </a:xfrm>
          <a:prstGeom prst="rect">
            <a:avLst/>
          </a:prstGeom>
          <a:noFill/>
          <a:ln/>
        </p:spPr>
        <p:txBody>
          <a:bodyPr wrap="square" rtlCol="0" anchor="ctr"/>
          <a:lstStyle/>
          <a:p>
            <a:pPr marL="0" indent="0">
              <a:buNone/>
            </a:pPr>
            <a:r>
              <a:rPr lang="en-US" sz="2400" b="1" dirty="0">
                <a:solidFill>
                  <a:srgbClr val="1A2C5B"/>
                </a:solidFill>
                <a:latin typeface="Arial" pitchFamily="34" charset="0"/>
                <a:ea typeface="Arial" pitchFamily="34" charset="-122"/>
                <a:cs typeface="Arial" pitchFamily="34" charset="-120"/>
              </a:rPr>
              <a:t>Q7: PHÂN PHÂN KHÚC THỊ TRƯỜNG K-MEANS (K=3)</a:t>
            </a:r>
            <a:endParaRPr lang="en-US" sz="2400" dirty="0"/>
          </a:p>
        </p:txBody>
      </p:sp>
      <p:sp>
        <p:nvSpPr>
          <p:cNvPr id="3" name="Text 1"/>
          <p:cNvSpPr/>
          <p:nvPr/>
        </p:nvSpPr>
        <p:spPr>
          <a:xfrm>
            <a:off x="365760" y="694944"/>
            <a:ext cx="8412480" cy="256032"/>
          </a:xfrm>
          <a:prstGeom prst="rect">
            <a:avLst/>
          </a:prstGeom>
          <a:noFill/>
          <a:ln/>
        </p:spPr>
        <p:txBody>
          <a:bodyPr wrap="square" rtlCol="0" anchor="ctr"/>
          <a:lstStyle/>
          <a:p>
            <a:pPr marL="0" indent="0">
              <a:buNone/>
            </a:pPr>
            <a:r>
              <a:rPr lang="en-US" sz="1100" i="1">
                <a:solidFill>
                  <a:srgbClr val="64748B"/>
                </a:solidFill>
                <a:latin typeface="Arial" pitchFamily="34" charset="0"/>
                <a:ea typeface="Arial" pitchFamily="34" charset="-122"/>
                <a:cs typeface="Arial" pitchFamily="34" charset="-120"/>
              </a:rPr>
              <a:t>Elbow Method và Silhouette Score đều cho thấy K=3 là số cụm phù hợp để phân khúc dữ liệu.</a:t>
            </a:r>
            <a:endParaRPr lang="en-US" sz="1100" dirty="0"/>
          </a:p>
        </p:txBody>
      </p:sp>
      <p:sp>
        <p:nvSpPr>
          <p:cNvPr id="4" name="Shape 2"/>
          <p:cNvSpPr/>
          <p:nvPr/>
        </p:nvSpPr>
        <p:spPr>
          <a:xfrm>
            <a:off x="292608" y="4178808"/>
            <a:ext cx="2743200" cy="896112"/>
          </a:xfrm>
          <a:prstGeom prst="roundRect">
            <a:avLst>
              <a:gd name="adj" fmla="val 10204"/>
            </a:avLst>
          </a:prstGeom>
          <a:solidFill>
            <a:srgbClr val="FFFFFF"/>
          </a:solidFill>
          <a:ln/>
          <a:effectLst>
            <a:outerShdw blurRad="101600" dist="38100" dir="2700000" algn="bl" rotWithShape="0">
              <a:srgbClr val="000000">
                <a:alpha val="12000"/>
              </a:srgbClr>
            </a:outerShdw>
          </a:effectLst>
        </p:spPr>
      </p:sp>
      <p:sp>
        <p:nvSpPr>
          <p:cNvPr id="5" name="Shape 3"/>
          <p:cNvSpPr/>
          <p:nvPr/>
        </p:nvSpPr>
        <p:spPr>
          <a:xfrm>
            <a:off x="365760" y="4356259"/>
            <a:ext cx="630936" cy="618077"/>
          </a:xfrm>
          <a:prstGeom prst="ellipse">
            <a:avLst/>
          </a:prstGeom>
          <a:solidFill>
            <a:srgbClr val="2D6A9F"/>
          </a:solidFill>
          <a:ln w="12700">
            <a:solidFill>
              <a:srgbClr val="2D6A9F"/>
            </a:solidFill>
            <a:prstDash val="solid"/>
          </a:ln>
        </p:spPr>
      </p:sp>
      <p:sp>
        <p:nvSpPr>
          <p:cNvPr id="6" name="Text 4"/>
          <p:cNvSpPr/>
          <p:nvPr/>
        </p:nvSpPr>
        <p:spPr>
          <a:xfrm>
            <a:off x="292608" y="4356258"/>
            <a:ext cx="736092" cy="618077"/>
          </a:xfrm>
          <a:prstGeom prst="rect">
            <a:avLst/>
          </a:prstGeom>
          <a:noFill/>
          <a:ln/>
        </p:spPr>
        <p:txBody>
          <a:bodyPr wrap="square" rtlCol="0" anchor="ctr"/>
          <a:lstStyle/>
          <a:p>
            <a:pPr marL="0" indent="0" algn="ctr">
              <a:lnSpc>
                <a:spcPct val="150000"/>
              </a:lnSpc>
              <a:buNone/>
            </a:pPr>
            <a:r>
              <a:rPr lang="en-US" sz="900" b="1">
                <a:solidFill>
                  <a:srgbClr val="FFFFFF"/>
                </a:solidFill>
                <a:latin typeface="Arial" pitchFamily="34" charset="0"/>
                <a:ea typeface="Arial" pitchFamily="34" charset="-122"/>
                <a:cs typeface="Arial" pitchFamily="34" charset="-120"/>
              </a:rPr>
              <a:t>~94,5%</a:t>
            </a:r>
            <a:endParaRPr lang="en-US" sz="900" dirty="0"/>
          </a:p>
        </p:txBody>
      </p:sp>
      <p:sp>
        <p:nvSpPr>
          <p:cNvPr id="7" name="Text 5"/>
          <p:cNvSpPr/>
          <p:nvPr/>
        </p:nvSpPr>
        <p:spPr>
          <a:xfrm>
            <a:off x="973836" y="4190093"/>
            <a:ext cx="1965960" cy="237744"/>
          </a:xfrm>
          <a:prstGeom prst="rect">
            <a:avLst/>
          </a:prstGeom>
          <a:noFill/>
          <a:ln/>
        </p:spPr>
        <p:txBody>
          <a:bodyPr wrap="square" rtlCol="0" anchor="ctr"/>
          <a:lstStyle/>
          <a:p>
            <a:pPr marL="0" indent="0">
              <a:lnSpc>
                <a:spcPct val="150000"/>
              </a:lnSpc>
              <a:buNone/>
            </a:pPr>
            <a:r>
              <a:rPr lang="en-US" sz="1100" b="1" dirty="0">
                <a:solidFill>
                  <a:srgbClr val="2D6A9F"/>
                </a:solidFill>
                <a:latin typeface="Arial" pitchFamily="34" charset="0"/>
                <a:ea typeface="Arial" pitchFamily="34" charset="-122"/>
                <a:cs typeface="Arial" pitchFamily="34" charset="-120"/>
              </a:rPr>
              <a:t>Cụm 0</a:t>
            </a:r>
            <a:endParaRPr lang="en-US" sz="1100" dirty="0"/>
          </a:p>
        </p:txBody>
      </p:sp>
      <p:sp>
        <p:nvSpPr>
          <p:cNvPr id="8" name="Text 6"/>
          <p:cNvSpPr/>
          <p:nvPr/>
        </p:nvSpPr>
        <p:spPr>
          <a:xfrm>
            <a:off x="978408" y="4535424"/>
            <a:ext cx="2130552" cy="400479"/>
          </a:xfrm>
          <a:prstGeom prst="rect">
            <a:avLst/>
          </a:prstGeom>
          <a:noFill/>
          <a:ln/>
        </p:spPr>
        <p:txBody>
          <a:bodyPr wrap="square" rtlCol="0" anchor="ctr"/>
          <a:lstStyle/>
          <a:p>
            <a:pPr marL="0" indent="0">
              <a:lnSpc>
                <a:spcPct val="150000"/>
              </a:lnSpc>
              <a:buNone/>
            </a:pPr>
            <a:r>
              <a:rPr lang="vi-VN" sz="1000">
                <a:solidFill>
                  <a:srgbClr val="1A2C5B"/>
                </a:solidFill>
                <a:latin typeface="Arial" pitchFamily="34" charset="0"/>
                <a:ea typeface="Arial" pitchFamily="34" charset="-122"/>
                <a:cs typeface="Arial" pitchFamily="34" charset="-120"/>
              </a:rPr>
              <a:t> Nhóm doanh thu thấp : 15.687 game </a:t>
            </a:r>
          </a:p>
          <a:p>
            <a:pPr marL="0" indent="0">
              <a:lnSpc>
                <a:spcPct val="150000"/>
              </a:lnSpc>
              <a:buNone/>
            </a:pPr>
            <a:r>
              <a:rPr lang="vi-VN" sz="1000">
                <a:solidFill>
                  <a:srgbClr val="1A2C5B"/>
                </a:solidFill>
                <a:latin typeface="Arial" pitchFamily="34" charset="0"/>
                <a:ea typeface="Arial" pitchFamily="34" charset="-122"/>
                <a:cs typeface="Arial" pitchFamily="34" charset="-120"/>
              </a:rPr>
              <a:t>Doanh thu TB: 0,34 triệu USD</a:t>
            </a:r>
            <a:endParaRPr lang="en-US" sz="1000" dirty="0"/>
          </a:p>
        </p:txBody>
      </p:sp>
      <p:sp>
        <p:nvSpPr>
          <p:cNvPr id="9" name="Shape 7"/>
          <p:cNvSpPr/>
          <p:nvPr/>
        </p:nvSpPr>
        <p:spPr>
          <a:xfrm>
            <a:off x="3218688" y="4178808"/>
            <a:ext cx="2743200" cy="896112"/>
          </a:xfrm>
          <a:prstGeom prst="roundRect">
            <a:avLst>
              <a:gd name="adj" fmla="val 10204"/>
            </a:avLst>
          </a:prstGeom>
          <a:solidFill>
            <a:srgbClr val="FFFFFF"/>
          </a:solidFill>
          <a:ln/>
          <a:effectLst>
            <a:outerShdw blurRad="101600" dist="38100" dir="2700000" algn="bl" rotWithShape="0">
              <a:srgbClr val="000000">
                <a:alpha val="12000"/>
              </a:srgbClr>
            </a:outerShdw>
          </a:effectLst>
        </p:spPr>
      </p:sp>
      <p:sp>
        <p:nvSpPr>
          <p:cNvPr id="10" name="Shape 8"/>
          <p:cNvSpPr/>
          <p:nvPr/>
        </p:nvSpPr>
        <p:spPr>
          <a:xfrm>
            <a:off x="3282696" y="4398264"/>
            <a:ext cx="585216" cy="537639"/>
          </a:xfrm>
          <a:prstGeom prst="ellipse">
            <a:avLst/>
          </a:prstGeom>
          <a:solidFill>
            <a:srgbClr val="E8543A"/>
          </a:solidFill>
          <a:ln w="12700">
            <a:solidFill>
              <a:srgbClr val="E8543A"/>
            </a:solidFill>
            <a:prstDash val="solid"/>
          </a:ln>
        </p:spPr>
      </p:sp>
      <p:sp>
        <p:nvSpPr>
          <p:cNvPr id="11" name="Text 9"/>
          <p:cNvSpPr/>
          <p:nvPr/>
        </p:nvSpPr>
        <p:spPr>
          <a:xfrm>
            <a:off x="3241548" y="4398265"/>
            <a:ext cx="644652" cy="537638"/>
          </a:xfrm>
          <a:prstGeom prst="rect">
            <a:avLst/>
          </a:prstGeom>
          <a:noFill/>
          <a:ln/>
        </p:spPr>
        <p:txBody>
          <a:bodyPr wrap="square" rtlCol="0" anchor="ctr"/>
          <a:lstStyle/>
          <a:p>
            <a:pPr marL="0" indent="0" algn="ctr">
              <a:lnSpc>
                <a:spcPct val="150000"/>
              </a:lnSpc>
              <a:buNone/>
            </a:pPr>
            <a:r>
              <a:rPr lang="en-US" sz="900" b="1">
                <a:solidFill>
                  <a:srgbClr val="FFFFFF"/>
                </a:solidFill>
                <a:latin typeface="Arial" pitchFamily="34" charset="0"/>
                <a:ea typeface="Arial" pitchFamily="34" charset="-122"/>
                <a:cs typeface="Arial" pitchFamily="34" charset="-120"/>
              </a:rPr>
              <a:t>~0,2%</a:t>
            </a:r>
            <a:endParaRPr lang="en-US" sz="900" dirty="0"/>
          </a:p>
        </p:txBody>
      </p:sp>
      <p:sp>
        <p:nvSpPr>
          <p:cNvPr id="12" name="Text 10"/>
          <p:cNvSpPr/>
          <p:nvPr/>
        </p:nvSpPr>
        <p:spPr>
          <a:xfrm>
            <a:off x="3904488" y="4168376"/>
            <a:ext cx="1965960" cy="237744"/>
          </a:xfrm>
          <a:prstGeom prst="rect">
            <a:avLst/>
          </a:prstGeom>
          <a:noFill/>
          <a:ln/>
        </p:spPr>
        <p:txBody>
          <a:bodyPr wrap="square" rtlCol="0" anchor="ctr"/>
          <a:lstStyle/>
          <a:p>
            <a:pPr marL="0" indent="0">
              <a:lnSpc>
                <a:spcPct val="150000"/>
              </a:lnSpc>
              <a:buNone/>
            </a:pPr>
            <a:r>
              <a:rPr lang="en-US" sz="1100" b="1" dirty="0">
                <a:solidFill>
                  <a:srgbClr val="E8543A"/>
                </a:solidFill>
                <a:latin typeface="Arial" pitchFamily="34" charset="0"/>
                <a:ea typeface="Arial" pitchFamily="34" charset="-122"/>
                <a:cs typeface="Arial" pitchFamily="34" charset="-120"/>
              </a:rPr>
              <a:t>Cụm 1</a:t>
            </a:r>
            <a:endParaRPr lang="en-US" sz="1100" dirty="0"/>
          </a:p>
        </p:txBody>
      </p:sp>
      <p:sp>
        <p:nvSpPr>
          <p:cNvPr id="13" name="Text 11"/>
          <p:cNvSpPr/>
          <p:nvPr/>
        </p:nvSpPr>
        <p:spPr>
          <a:xfrm>
            <a:off x="3904488" y="4535424"/>
            <a:ext cx="2080260" cy="343757"/>
          </a:xfrm>
          <a:prstGeom prst="rect">
            <a:avLst/>
          </a:prstGeom>
          <a:noFill/>
          <a:ln/>
        </p:spPr>
        <p:txBody>
          <a:bodyPr wrap="square" rtlCol="0" anchor="ctr"/>
          <a:lstStyle/>
          <a:p>
            <a:pPr marL="0" indent="0">
              <a:lnSpc>
                <a:spcPct val="150000"/>
              </a:lnSpc>
              <a:buNone/>
            </a:pPr>
            <a:r>
              <a:rPr lang="en-US" sz="1000">
                <a:solidFill>
                  <a:srgbClr val="1A2C5B"/>
                </a:solidFill>
                <a:latin typeface="Arial" pitchFamily="34" charset="0"/>
                <a:ea typeface="Arial" pitchFamily="34" charset="-122"/>
                <a:cs typeface="Arial" pitchFamily="34" charset="-120"/>
              </a:rPr>
              <a:t> Nhóm doanh thu rất cao  34 game</a:t>
            </a:r>
          </a:p>
          <a:p>
            <a:pPr marL="0" indent="0">
              <a:lnSpc>
                <a:spcPct val="150000"/>
              </a:lnSpc>
              <a:buNone/>
            </a:pPr>
            <a:r>
              <a:rPr lang="en-US" sz="1000">
                <a:solidFill>
                  <a:srgbClr val="1A2C5B"/>
                </a:solidFill>
                <a:latin typeface="Arial" pitchFamily="34" charset="0"/>
                <a:ea typeface="Arial" pitchFamily="34" charset="-122"/>
                <a:cs typeface="Arial" pitchFamily="34" charset="-120"/>
              </a:rPr>
              <a:t>Doanh thu TB: 23,73 triệu USD</a:t>
            </a:r>
            <a:endParaRPr lang="en-US" sz="1000" dirty="0"/>
          </a:p>
        </p:txBody>
      </p:sp>
      <p:sp>
        <p:nvSpPr>
          <p:cNvPr id="14" name="Shape 12"/>
          <p:cNvSpPr/>
          <p:nvPr/>
        </p:nvSpPr>
        <p:spPr>
          <a:xfrm>
            <a:off x="6181344" y="4137367"/>
            <a:ext cx="2743200" cy="896112"/>
          </a:xfrm>
          <a:prstGeom prst="roundRect">
            <a:avLst>
              <a:gd name="adj" fmla="val 10204"/>
            </a:avLst>
          </a:prstGeom>
          <a:solidFill>
            <a:srgbClr val="FFFFFF"/>
          </a:solidFill>
          <a:ln/>
          <a:effectLst>
            <a:outerShdw blurRad="101600" dist="38100" dir="2700000" algn="bl" rotWithShape="0">
              <a:srgbClr val="000000">
                <a:alpha val="12000"/>
              </a:srgbClr>
            </a:outerShdw>
          </a:effectLst>
        </p:spPr>
      </p:sp>
      <p:sp>
        <p:nvSpPr>
          <p:cNvPr id="15" name="Shape 13"/>
          <p:cNvSpPr/>
          <p:nvPr/>
        </p:nvSpPr>
        <p:spPr>
          <a:xfrm>
            <a:off x="6190488" y="4406120"/>
            <a:ext cx="630936" cy="553784"/>
          </a:xfrm>
          <a:prstGeom prst="ellipse">
            <a:avLst/>
          </a:prstGeom>
          <a:solidFill>
            <a:srgbClr val="3DAA6E"/>
          </a:solidFill>
          <a:ln w="12700">
            <a:solidFill>
              <a:srgbClr val="3DAA6E"/>
            </a:solidFill>
            <a:prstDash val="solid"/>
          </a:ln>
        </p:spPr>
      </p:sp>
      <p:sp>
        <p:nvSpPr>
          <p:cNvPr id="16" name="Text 14"/>
          <p:cNvSpPr/>
          <p:nvPr/>
        </p:nvSpPr>
        <p:spPr>
          <a:xfrm>
            <a:off x="6181344" y="4398264"/>
            <a:ext cx="649224" cy="561640"/>
          </a:xfrm>
          <a:prstGeom prst="rect">
            <a:avLst/>
          </a:prstGeom>
          <a:noFill/>
          <a:ln/>
        </p:spPr>
        <p:txBody>
          <a:bodyPr wrap="square" rtlCol="0" anchor="ctr"/>
          <a:lstStyle/>
          <a:p>
            <a:pPr marL="0" indent="0" algn="ctr">
              <a:lnSpc>
                <a:spcPct val="150000"/>
              </a:lnSpc>
              <a:buNone/>
            </a:pPr>
            <a:r>
              <a:rPr lang="en-US" sz="900" b="1">
                <a:solidFill>
                  <a:srgbClr val="FFFFFF"/>
                </a:solidFill>
                <a:latin typeface="Arial" pitchFamily="34" charset="0"/>
                <a:ea typeface="Arial" pitchFamily="34" charset="-122"/>
                <a:cs typeface="Arial" pitchFamily="34" charset="-120"/>
              </a:rPr>
              <a:t>~3,4%</a:t>
            </a:r>
            <a:endParaRPr lang="en-US" sz="900" dirty="0"/>
          </a:p>
        </p:txBody>
      </p:sp>
      <p:sp>
        <p:nvSpPr>
          <p:cNvPr id="17" name="Text 15"/>
          <p:cNvSpPr/>
          <p:nvPr/>
        </p:nvSpPr>
        <p:spPr>
          <a:xfrm>
            <a:off x="6830568" y="4167232"/>
            <a:ext cx="1965960" cy="237744"/>
          </a:xfrm>
          <a:prstGeom prst="rect">
            <a:avLst/>
          </a:prstGeom>
          <a:noFill/>
          <a:ln/>
        </p:spPr>
        <p:txBody>
          <a:bodyPr wrap="square" rtlCol="0" anchor="ctr"/>
          <a:lstStyle/>
          <a:p>
            <a:pPr marL="0" indent="0">
              <a:lnSpc>
                <a:spcPct val="150000"/>
              </a:lnSpc>
              <a:buNone/>
            </a:pPr>
            <a:r>
              <a:rPr lang="en-US" sz="1100" b="1" dirty="0">
                <a:solidFill>
                  <a:srgbClr val="3DAA6E"/>
                </a:solidFill>
                <a:latin typeface="Arial" pitchFamily="34" charset="0"/>
                <a:ea typeface="Arial" pitchFamily="34" charset="-122"/>
                <a:cs typeface="Arial" pitchFamily="34" charset="-120"/>
              </a:rPr>
              <a:t>Cụm 2</a:t>
            </a:r>
            <a:endParaRPr lang="en-US" sz="1100" dirty="0"/>
          </a:p>
        </p:txBody>
      </p:sp>
      <p:sp>
        <p:nvSpPr>
          <p:cNvPr id="18" name="Text 16"/>
          <p:cNvSpPr/>
          <p:nvPr/>
        </p:nvSpPr>
        <p:spPr>
          <a:xfrm>
            <a:off x="6830568" y="4535424"/>
            <a:ext cx="2103120" cy="343757"/>
          </a:xfrm>
          <a:prstGeom prst="rect">
            <a:avLst/>
          </a:prstGeom>
          <a:noFill/>
          <a:ln/>
        </p:spPr>
        <p:txBody>
          <a:bodyPr wrap="square" rtlCol="0" anchor="ctr"/>
          <a:lstStyle/>
          <a:p>
            <a:pPr marL="0" indent="0">
              <a:lnSpc>
                <a:spcPct val="150000"/>
              </a:lnSpc>
              <a:buNone/>
            </a:pPr>
            <a:r>
              <a:rPr lang="en-US" sz="1000">
                <a:solidFill>
                  <a:srgbClr val="1A2C5B"/>
                </a:solidFill>
                <a:latin typeface="Arial" pitchFamily="34" charset="0"/>
                <a:ea typeface="Arial" pitchFamily="34" charset="-122"/>
                <a:cs typeface="Arial" pitchFamily="34" charset="-120"/>
              </a:rPr>
              <a:t> Nhóm doanh thu trung bình  570 game</a:t>
            </a:r>
          </a:p>
          <a:p>
            <a:pPr marL="0" indent="0">
              <a:lnSpc>
                <a:spcPct val="150000"/>
              </a:lnSpc>
              <a:buNone/>
            </a:pPr>
            <a:r>
              <a:rPr lang="en-US" sz="1000">
                <a:solidFill>
                  <a:srgbClr val="1A2C5B"/>
                </a:solidFill>
                <a:latin typeface="Arial" pitchFamily="34" charset="0"/>
                <a:ea typeface="Arial" pitchFamily="34" charset="-122"/>
                <a:cs typeface="Arial" pitchFamily="34" charset="-120"/>
              </a:rPr>
              <a:t>Doanh thu TB: 4,61 triệu USD</a:t>
            </a:r>
            <a:endParaRPr lang="en-US" sz="1000" dirty="0"/>
          </a:p>
        </p:txBody>
      </p:sp>
      <p:pic>
        <p:nvPicPr>
          <p:cNvPr id="21" name="Hình ảnh 20">
            <a:extLst>
              <a:ext uri="{FF2B5EF4-FFF2-40B4-BE49-F238E27FC236}">
                <a16:creationId xmlns:a16="http://schemas.microsoft.com/office/drawing/2014/main" id="{6C42E622-1BCF-A9F7-0E58-E066880EBA15}"/>
              </a:ext>
            </a:extLst>
          </p:cNvPr>
          <p:cNvPicPr>
            <a:picLocks noChangeAspect="1"/>
          </p:cNvPicPr>
          <p:nvPr/>
        </p:nvPicPr>
        <p:blipFill>
          <a:blip r:embed="rId3"/>
          <a:stretch>
            <a:fillRect/>
          </a:stretch>
        </p:blipFill>
        <p:spPr>
          <a:xfrm>
            <a:off x="771525" y="1006133"/>
            <a:ext cx="7600950" cy="291664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9">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127221" y="164592"/>
            <a:ext cx="9016779" cy="530352"/>
          </a:xfrm>
          <a:prstGeom prst="rect">
            <a:avLst/>
          </a:prstGeom>
          <a:noFill/>
          <a:ln/>
        </p:spPr>
        <p:txBody>
          <a:bodyPr wrap="square" rtlCol="0" anchor="ctr"/>
          <a:lstStyle/>
          <a:p>
            <a:pPr marL="0" indent="0">
              <a:lnSpc>
                <a:spcPct val="150000"/>
              </a:lnSpc>
              <a:buNone/>
            </a:pPr>
            <a:r>
              <a:rPr lang="en-US" sz="2400" b="1">
                <a:solidFill>
                  <a:srgbClr val="1A2C5B"/>
                </a:solidFill>
                <a:latin typeface="Arial" pitchFamily="34" charset="0"/>
                <a:ea typeface="Arial" pitchFamily="34" charset="-122"/>
                <a:cs typeface="Arial" pitchFamily="34" charset="-120"/>
              </a:rPr>
              <a:t>DOANH THU TRUNG BÌNH THEO KHU VỰC CỦA TỪNG CỤM</a:t>
            </a:r>
            <a:endParaRPr lang="en-US" sz="2400" dirty="0"/>
          </a:p>
        </p:txBody>
      </p:sp>
      <p:sp>
        <p:nvSpPr>
          <p:cNvPr id="3" name="Text 1"/>
          <p:cNvSpPr/>
          <p:nvPr/>
        </p:nvSpPr>
        <p:spPr>
          <a:xfrm>
            <a:off x="365760" y="694944"/>
            <a:ext cx="8412480" cy="256032"/>
          </a:xfrm>
          <a:prstGeom prst="rect">
            <a:avLst/>
          </a:prstGeom>
          <a:noFill/>
          <a:ln/>
        </p:spPr>
        <p:txBody>
          <a:bodyPr wrap="square" rtlCol="0" anchor="ctr"/>
          <a:lstStyle/>
          <a:p>
            <a:pPr marL="0" indent="0">
              <a:lnSpc>
                <a:spcPct val="150000"/>
              </a:lnSpc>
              <a:buNone/>
            </a:pPr>
            <a:r>
              <a:rPr lang="vi-VN" sz="1100" i="1">
                <a:solidFill>
                  <a:srgbClr val="64748B"/>
                </a:solidFill>
                <a:latin typeface="Arial" pitchFamily="34" charset="0"/>
                <a:ea typeface="Arial" pitchFamily="34" charset="-122"/>
                <a:cs typeface="Arial" pitchFamily="34" charset="-120"/>
              </a:rPr>
              <a:t>Ba phân khúc thể hiện sự khác biệt rõ về quy mô doanh thu và thị trường phân phối.</a:t>
            </a:r>
            <a:endParaRPr lang="en-US" sz="1100" dirty="0"/>
          </a:p>
        </p:txBody>
      </p:sp>
      <p:pic>
        <p:nvPicPr>
          <p:cNvPr id="40" name="Hình ảnh 39">
            <a:extLst>
              <a:ext uri="{FF2B5EF4-FFF2-40B4-BE49-F238E27FC236}">
                <a16:creationId xmlns:a16="http://schemas.microsoft.com/office/drawing/2014/main" id="{79ADCD41-75DE-D85B-6D33-8B01A39A99C4}"/>
              </a:ext>
            </a:extLst>
          </p:cNvPr>
          <p:cNvPicPr>
            <a:picLocks noChangeAspect="1"/>
          </p:cNvPicPr>
          <p:nvPr/>
        </p:nvPicPr>
        <p:blipFill>
          <a:blip r:embed="rId3"/>
          <a:stretch>
            <a:fillRect/>
          </a:stretch>
        </p:blipFill>
        <p:spPr>
          <a:xfrm>
            <a:off x="347472" y="1116139"/>
            <a:ext cx="3859123" cy="3775762"/>
          </a:xfrm>
          <a:prstGeom prst="rect">
            <a:avLst/>
          </a:prstGeom>
        </p:spPr>
      </p:pic>
      <p:graphicFrame>
        <p:nvGraphicFramePr>
          <p:cNvPr id="41" name="Bảng 40">
            <a:extLst>
              <a:ext uri="{FF2B5EF4-FFF2-40B4-BE49-F238E27FC236}">
                <a16:creationId xmlns:a16="http://schemas.microsoft.com/office/drawing/2014/main" id="{6662F26C-C140-103D-9BE7-9E13E70A1365}"/>
              </a:ext>
            </a:extLst>
          </p:cNvPr>
          <p:cNvGraphicFramePr>
            <a:graphicFrameLocks noGrp="1"/>
          </p:cNvGraphicFramePr>
          <p:nvPr>
            <p:extLst>
              <p:ext uri="{D42A27DB-BD31-4B8C-83A1-F6EECF244321}">
                <p14:modId xmlns:p14="http://schemas.microsoft.com/office/powerpoint/2010/main" val="2260446738"/>
              </p:ext>
            </p:extLst>
          </p:nvPr>
        </p:nvGraphicFramePr>
        <p:xfrm>
          <a:off x="4414839" y="1116139"/>
          <a:ext cx="4600574" cy="3631310"/>
        </p:xfrm>
        <a:graphic>
          <a:graphicData uri="http://schemas.openxmlformats.org/drawingml/2006/table">
            <a:tbl>
              <a:tblPr firstRow="1">
                <a:tableStyleId>{284E427A-3D55-4303-BF80-6455036E1DE7}</a:tableStyleId>
              </a:tblPr>
              <a:tblGrid>
                <a:gridCol w="650080">
                  <a:extLst>
                    <a:ext uri="{9D8B030D-6E8A-4147-A177-3AD203B41FA5}">
                      <a16:colId xmlns:a16="http://schemas.microsoft.com/office/drawing/2014/main" val="191344265"/>
                    </a:ext>
                  </a:extLst>
                </a:gridCol>
                <a:gridCol w="800100">
                  <a:extLst>
                    <a:ext uri="{9D8B030D-6E8A-4147-A177-3AD203B41FA5}">
                      <a16:colId xmlns:a16="http://schemas.microsoft.com/office/drawing/2014/main" val="3515129146"/>
                    </a:ext>
                  </a:extLst>
                </a:gridCol>
                <a:gridCol w="1478756">
                  <a:extLst>
                    <a:ext uri="{9D8B030D-6E8A-4147-A177-3AD203B41FA5}">
                      <a16:colId xmlns:a16="http://schemas.microsoft.com/office/drawing/2014/main" val="1451437829"/>
                    </a:ext>
                  </a:extLst>
                </a:gridCol>
                <a:gridCol w="1671638">
                  <a:extLst>
                    <a:ext uri="{9D8B030D-6E8A-4147-A177-3AD203B41FA5}">
                      <a16:colId xmlns:a16="http://schemas.microsoft.com/office/drawing/2014/main" val="616673051"/>
                    </a:ext>
                  </a:extLst>
                </a:gridCol>
              </a:tblGrid>
              <a:tr h="348122">
                <a:tc>
                  <a:txBody>
                    <a:bodyPr/>
                    <a:lstStyle/>
                    <a:p>
                      <a:pPr algn="ctr">
                        <a:lnSpc>
                          <a:spcPct val="150000"/>
                        </a:lnSpc>
                        <a:buNone/>
                      </a:pPr>
                      <a:r>
                        <a:rPr lang="vi-VN" sz="1100"/>
                        <a:t>Cụm</a:t>
                      </a:r>
                    </a:p>
                  </a:txBody>
                  <a:tcPr marL="70920" marR="70920" marT="35460" marB="35460" anchor="ctr"/>
                </a:tc>
                <a:tc>
                  <a:txBody>
                    <a:bodyPr/>
                    <a:lstStyle/>
                    <a:p>
                      <a:pPr algn="ctr">
                        <a:lnSpc>
                          <a:spcPct val="150000"/>
                        </a:lnSpc>
                        <a:buNone/>
                      </a:pPr>
                      <a:r>
                        <a:rPr lang="vi-VN" sz="1100"/>
                        <a:t>Đặc điểm</a:t>
                      </a:r>
                    </a:p>
                  </a:txBody>
                  <a:tcPr marL="70920" marR="70920" marT="35460" marB="35460" anchor="ctr"/>
                </a:tc>
                <a:tc>
                  <a:txBody>
                    <a:bodyPr/>
                    <a:lstStyle/>
                    <a:p>
                      <a:pPr algn="ctr">
                        <a:lnSpc>
                          <a:spcPct val="150000"/>
                        </a:lnSpc>
                        <a:buNone/>
                      </a:pPr>
                      <a:r>
                        <a:rPr lang="vi-VN" sz="1100"/>
                        <a:t>Phân bố doanh thu</a:t>
                      </a:r>
                    </a:p>
                  </a:txBody>
                  <a:tcPr marL="70920" marR="70920" marT="35460" marB="35460" anchor="ctr"/>
                </a:tc>
                <a:tc>
                  <a:txBody>
                    <a:bodyPr/>
                    <a:lstStyle/>
                    <a:p>
                      <a:pPr algn="ctr">
                        <a:lnSpc>
                          <a:spcPct val="150000"/>
                        </a:lnSpc>
                        <a:buNone/>
                      </a:pPr>
                      <a:r>
                        <a:rPr lang="vi-VN" sz="1100"/>
                        <a:t>Nhận xét</a:t>
                      </a:r>
                    </a:p>
                  </a:txBody>
                  <a:tcPr marL="70920" marR="70920" marT="35460" marB="35460" anchor="ctr"/>
                </a:tc>
                <a:extLst>
                  <a:ext uri="{0D108BD9-81ED-4DB2-BD59-A6C34878D82A}">
                    <a16:rowId xmlns:a16="http://schemas.microsoft.com/office/drawing/2014/main" val="3072708314"/>
                  </a:ext>
                </a:extLst>
              </a:tr>
              <a:tr h="1243651">
                <a:tc>
                  <a:txBody>
                    <a:bodyPr/>
                    <a:lstStyle/>
                    <a:p>
                      <a:pPr algn="ctr">
                        <a:lnSpc>
                          <a:spcPct val="150000"/>
                        </a:lnSpc>
                        <a:buNone/>
                      </a:pPr>
                      <a:r>
                        <a:rPr lang="vi-VN" sz="1100" b="1"/>
                        <a:t>Cụm 0 (94,5%)</a:t>
                      </a:r>
                      <a:endParaRPr lang="vi-VN" sz="1100"/>
                    </a:p>
                  </a:txBody>
                  <a:tcPr marL="70920" marR="70920" marT="35460" marB="35460" anchor="ctr">
                    <a:solidFill>
                      <a:schemeClr val="bg1"/>
                    </a:solidFill>
                  </a:tcPr>
                </a:tc>
                <a:tc>
                  <a:txBody>
                    <a:bodyPr/>
                    <a:lstStyle/>
                    <a:p>
                      <a:pPr algn="ctr">
                        <a:lnSpc>
                          <a:spcPct val="150000"/>
                        </a:lnSpc>
                        <a:buNone/>
                      </a:pPr>
                      <a:r>
                        <a:rPr lang="vi-VN" sz="1100"/>
                        <a:t>Doanh thu thấp</a:t>
                      </a:r>
                    </a:p>
                  </a:txBody>
                  <a:tcPr marL="70920" marR="70920" marT="35460" marB="35460" anchor="ctr">
                    <a:solidFill>
                      <a:schemeClr val="bg1"/>
                    </a:solidFill>
                  </a:tcPr>
                </a:tc>
                <a:tc>
                  <a:txBody>
                    <a:bodyPr/>
                    <a:lstStyle/>
                    <a:p>
                      <a:pPr algn="ctr">
                        <a:lnSpc>
                          <a:spcPct val="150000"/>
                        </a:lnSpc>
                        <a:buNone/>
                      </a:pPr>
                      <a:r>
                        <a:rPr lang="vi-VN" sz="1100"/>
                        <a:t>Doanh thu thấp ở tất cả khu vực</a:t>
                      </a:r>
                    </a:p>
                  </a:txBody>
                  <a:tcPr marL="70920" marR="70920" marT="35460" marB="35460" anchor="ctr">
                    <a:solidFill>
                      <a:schemeClr val="bg1"/>
                    </a:solidFill>
                  </a:tcPr>
                </a:tc>
                <a:tc>
                  <a:txBody>
                    <a:bodyPr/>
                    <a:lstStyle/>
                    <a:p>
                      <a:pPr algn="ctr">
                        <a:lnSpc>
                          <a:spcPct val="150000"/>
                        </a:lnSpc>
                        <a:buNone/>
                      </a:pPr>
                      <a:r>
                        <a:rPr lang="vi-VN" sz="1100"/>
                        <a:t>Chiếm phần lớn số lượng game nhưng đóng góp doanh thu thấp</a:t>
                      </a:r>
                    </a:p>
                  </a:txBody>
                  <a:tcPr marL="70920" marR="70920" marT="35460" marB="35460" anchor="ctr">
                    <a:solidFill>
                      <a:schemeClr val="bg1"/>
                    </a:solidFill>
                  </a:tcPr>
                </a:tc>
                <a:extLst>
                  <a:ext uri="{0D108BD9-81ED-4DB2-BD59-A6C34878D82A}">
                    <a16:rowId xmlns:a16="http://schemas.microsoft.com/office/drawing/2014/main" val="3923544040"/>
                  </a:ext>
                </a:extLst>
              </a:tr>
              <a:tr h="945141">
                <a:tc>
                  <a:txBody>
                    <a:bodyPr/>
                    <a:lstStyle/>
                    <a:p>
                      <a:pPr algn="ctr">
                        <a:lnSpc>
                          <a:spcPct val="150000"/>
                        </a:lnSpc>
                        <a:buNone/>
                      </a:pPr>
                      <a:r>
                        <a:rPr lang="vi-VN" sz="1100" b="1"/>
                        <a:t>Cụm 1 (0,2%)</a:t>
                      </a:r>
                      <a:endParaRPr lang="vi-VN" sz="1100"/>
                    </a:p>
                  </a:txBody>
                  <a:tcPr marL="70920" marR="70920" marT="35460" marB="35460" anchor="ctr">
                    <a:solidFill>
                      <a:schemeClr val="bg1"/>
                    </a:solidFill>
                  </a:tcPr>
                </a:tc>
                <a:tc>
                  <a:txBody>
                    <a:bodyPr/>
                    <a:lstStyle/>
                    <a:p>
                      <a:pPr algn="ctr">
                        <a:lnSpc>
                          <a:spcPct val="150000"/>
                        </a:lnSpc>
                        <a:buNone/>
                      </a:pPr>
                      <a:r>
                        <a:rPr lang="vi-VN" sz="1100"/>
                        <a:t>Doanh thu rất cao</a:t>
                      </a:r>
                    </a:p>
                  </a:txBody>
                  <a:tcPr marL="70920" marR="70920" marT="35460" marB="35460" anchor="ctr">
                    <a:solidFill>
                      <a:schemeClr val="bg1"/>
                    </a:solidFill>
                  </a:tcPr>
                </a:tc>
                <a:tc>
                  <a:txBody>
                    <a:bodyPr/>
                    <a:lstStyle/>
                    <a:p>
                      <a:pPr algn="ctr">
                        <a:lnSpc>
                          <a:spcPct val="150000"/>
                        </a:lnSpc>
                        <a:buNone/>
                      </a:pPr>
                      <a:r>
                        <a:rPr lang="vi-VN" sz="1100"/>
                        <a:t>Doanh thu vượt trội tại Bắc Mỹ, Châu Âu và Nhật Bản</a:t>
                      </a:r>
                    </a:p>
                  </a:txBody>
                  <a:tcPr marL="70920" marR="70920" marT="35460" marB="35460" anchor="ctr">
                    <a:solidFill>
                      <a:schemeClr val="bg1"/>
                    </a:solidFill>
                  </a:tcPr>
                </a:tc>
                <a:tc>
                  <a:txBody>
                    <a:bodyPr/>
                    <a:lstStyle/>
                    <a:p>
                      <a:pPr algn="ctr">
                        <a:lnSpc>
                          <a:spcPct val="150000"/>
                        </a:lnSpc>
                        <a:buNone/>
                      </a:pPr>
                      <a:r>
                        <a:rPr lang="vi-VN" sz="1100"/>
                        <a:t>Nhóm game thành công nhất, đóng góp doanh thu lớn</a:t>
                      </a:r>
                    </a:p>
                  </a:txBody>
                  <a:tcPr marL="70920" marR="70920" marT="35460" marB="35460" anchor="ctr">
                    <a:solidFill>
                      <a:schemeClr val="bg1"/>
                    </a:solidFill>
                  </a:tcPr>
                </a:tc>
                <a:extLst>
                  <a:ext uri="{0D108BD9-81ED-4DB2-BD59-A6C34878D82A}">
                    <a16:rowId xmlns:a16="http://schemas.microsoft.com/office/drawing/2014/main" val="727186539"/>
                  </a:ext>
                </a:extLst>
              </a:tr>
              <a:tr h="1094396">
                <a:tc>
                  <a:txBody>
                    <a:bodyPr/>
                    <a:lstStyle/>
                    <a:p>
                      <a:pPr algn="ctr">
                        <a:lnSpc>
                          <a:spcPct val="150000"/>
                        </a:lnSpc>
                        <a:buNone/>
                      </a:pPr>
                      <a:r>
                        <a:rPr lang="vi-VN" sz="1100" b="1"/>
                        <a:t>Cụm 2 (3,4%)</a:t>
                      </a:r>
                      <a:endParaRPr lang="vi-VN" sz="1100"/>
                    </a:p>
                  </a:txBody>
                  <a:tcPr marL="70920" marR="70920" marT="35460" marB="35460" anchor="ctr">
                    <a:solidFill>
                      <a:schemeClr val="bg1"/>
                    </a:solidFill>
                  </a:tcPr>
                </a:tc>
                <a:tc>
                  <a:txBody>
                    <a:bodyPr/>
                    <a:lstStyle/>
                    <a:p>
                      <a:pPr algn="ctr">
                        <a:lnSpc>
                          <a:spcPct val="150000"/>
                        </a:lnSpc>
                        <a:buNone/>
                      </a:pPr>
                      <a:r>
                        <a:rPr lang="vi-VN" sz="1100"/>
                        <a:t>Doanh thu trung bình</a:t>
                      </a:r>
                    </a:p>
                  </a:txBody>
                  <a:tcPr marL="70920" marR="70920" marT="35460" marB="35460" anchor="ctr">
                    <a:solidFill>
                      <a:schemeClr val="bg1"/>
                    </a:solidFill>
                  </a:tcPr>
                </a:tc>
                <a:tc>
                  <a:txBody>
                    <a:bodyPr/>
                    <a:lstStyle/>
                    <a:p>
                      <a:pPr algn="ctr">
                        <a:lnSpc>
                          <a:spcPct val="150000"/>
                        </a:lnSpc>
                        <a:buNone/>
                      </a:pPr>
                      <a:r>
                        <a:rPr lang="vi-VN" sz="1100"/>
                        <a:t>Doanh thu khá cao ở Bắc Mỹ và Châu Âu, thấp hơn tại Nhật Bản</a:t>
                      </a:r>
                    </a:p>
                  </a:txBody>
                  <a:tcPr marL="70920" marR="70920" marT="35460" marB="35460" anchor="ctr">
                    <a:solidFill>
                      <a:schemeClr val="bg1"/>
                    </a:solidFill>
                  </a:tcPr>
                </a:tc>
                <a:tc>
                  <a:txBody>
                    <a:bodyPr/>
                    <a:lstStyle/>
                    <a:p>
                      <a:pPr algn="ctr">
                        <a:lnSpc>
                          <a:spcPct val="150000"/>
                        </a:lnSpc>
                        <a:buNone/>
                      </a:pPr>
                      <a:r>
                        <a:rPr lang="vi-VN" sz="1100"/>
                        <a:t>Nhóm game có hiệu suất doanh thu ổn định</a:t>
                      </a:r>
                    </a:p>
                  </a:txBody>
                  <a:tcPr marL="70920" marR="70920" marT="35460" marB="35460" anchor="ctr">
                    <a:solidFill>
                      <a:schemeClr val="bg1"/>
                    </a:solidFill>
                  </a:tcPr>
                </a:tc>
                <a:extLst>
                  <a:ext uri="{0D108BD9-81ED-4DB2-BD59-A6C34878D82A}">
                    <a16:rowId xmlns:a16="http://schemas.microsoft.com/office/drawing/2014/main" val="166587553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1">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30352"/>
          </a:xfrm>
          <a:prstGeom prst="rect">
            <a:avLst/>
          </a:prstGeom>
          <a:noFill/>
          <a:ln/>
        </p:spPr>
        <p:txBody>
          <a:bodyPr wrap="square" rtlCol="0" anchor="ctr"/>
          <a:lstStyle/>
          <a:p>
            <a:pPr marL="0" indent="0">
              <a:lnSpc>
                <a:spcPct val="150000"/>
              </a:lnSpc>
              <a:buNone/>
            </a:pPr>
            <a:r>
              <a:rPr lang="en-US" sz="2400" b="1" dirty="0">
                <a:solidFill>
                  <a:srgbClr val="1A2C5B"/>
                </a:solidFill>
                <a:latin typeface="Arial" pitchFamily="34" charset="0"/>
                <a:ea typeface="Arial" pitchFamily="34" charset="-122"/>
                <a:cs typeface="Arial" pitchFamily="34" charset="-120"/>
              </a:rPr>
              <a:t>HẠN CHẾ VÀ ĐỀ XUẤT HOÀN THIỆN ĐỀ TÀI</a:t>
            </a:r>
            <a:endParaRPr lang="en-US" sz="2400" dirty="0"/>
          </a:p>
        </p:txBody>
      </p:sp>
      <p:sp>
        <p:nvSpPr>
          <p:cNvPr id="3" name="Shape 1"/>
          <p:cNvSpPr/>
          <p:nvPr/>
        </p:nvSpPr>
        <p:spPr>
          <a:xfrm>
            <a:off x="292608" y="914400"/>
            <a:ext cx="4251960" cy="4114800"/>
          </a:xfrm>
          <a:prstGeom prst="roundRect">
            <a:avLst>
              <a:gd name="adj" fmla="val 2222"/>
            </a:avLst>
          </a:prstGeom>
          <a:solidFill>
            <a:srgbClr val="FFFFFF"/>
          </a:solidFill>
          <a:ln/>
          <a:effectLst>
            <a:outerShdw blurRad="101600" dist="38100" dir="2700000" algn="bl" rotWithShape="0">
              <a:srgbClr val="000000">
                <a:alpha val="12000"/>
              </a:srgbClr>
            </a:outerShdw>
          </a:effectLst>
        </p:spPr>
      </p:sp>
      <p:sp>
        <p:nvSpPr>
          <p:cNvPr id="4" name="Shape 2"/>
          <p:cNvSpPr/>
          <p:nvPr/>
        </p:nvSpPr>
        <p:spPr>
          <a:xfrm>
            <a:off x="292608" y="914400"/>
            <a:ext cx="4251960" cy="402336"/>
          </a:xfrm>
          <a:prstGeom prst="rect">
            <a:avLst/>
          </a:prstGeom>
          <a:solidFill>
            <a:srgbClr val="E74C3C"/>
          </a:solidFill>
          <a:ln/>
        </p:spPr>
      </p:sp>
      <p:sp>
        <p:nvSpPr>
          <p:cNvPr id="5" name="Text 3"/>
          <p:cNvSpPr/>
          <p:nvPr/>
        </p:nvSpPr>
        <p:spPr>
          <a:xfrm>
            <a:off x="420624" y="941832"/>
            <a:ext cx="3986784" cy="347472"/>
          </a:xfrm>
          <a:prstGeom prst="rect">
            <a:avLst/>
          </a:prstGeom>
          <a:noFill/>
          <a:ln/>
        </p:spPr>
        <p:txBody>
          <a:bodyPr wrap="square" rtlCol="0" anchor="ctr"/>
          <a:lstStyle/>
          <a:p>
            <a:pPr marL="0" indent="0">
              <a:lnSpc>
                <a:spcPct val="150000"/>
              </a:lnSpc>
              <a:buNone/>
            </a:pPr>
            <a:r>
              <a:rPr lang="en-US" sz="1300" b="1" dirty="0">
                <a:solidFill>
                  <a:srgbClr val="FFFFFF"/>
                </a:solidFill>
                <a:latin typeface="Arial" pitchFamily="34" charset="0"/>
                <a:ea typeface="Arial" pitchFamily="34" charset="-122"/>
                <a:cs typeface="Arial" pitchFamily="34" charset="-120"/>
              </a:rPr>
              <a:t>⚠️  Những Điểm Hạn Chế</a:t>
            </a:r>
            <a:endParaRPr lang="en-US" sz="1300" dirty="0"/>
          </a:p>
        </p:txBody>
      </p:sp>
      <p:sp>
        <p:nvSpPr>
          <p:cNvPr id="6" name="Shape 4"/>
          <p:cNvSpPr/>
          <p:nvPr/>
        </p:nvSpPr>
        <p:spPr>
          <a:xfrm>
            <a:off x="438912" y="1444752"/>
            <a:ext cx="365760" cy="365760"/>
          </a:xfrm>
          <a:prstGeom prst="ellipse">
            <a:avLst/>
          </a:prstGeom>
          <a:solidFill>
            <a:srgbClr val="E74C3C"/>
          </a:solidFill>
          <a:ln w="12700">
            <a:solidFill>
              <a:srgbClr val="E74C3C"/>
            </a:solidFill>
            <a:prstDash val="solid"/>
          </a:ln>
        </p:spPr>
      </p:sp>
      <p:sp>
        <p:nvSpPr>
          <p:cNvPr id="7" name="Text 5"/>
          <p:cNvSpPr/>
          <p:nvPr/>
        </p:nvSpPr>
        <p:spPr>
          <a:xfrm>
            <a:off x="438912" y="1435608"/>
            <a:ext cx="365760" cy="384048"/>
          </a:xfrm>
          <a:prstGeom prst="rect">
            <a:avLst/>
          </a:prstGeom>
          <a:noFill/>
          <a:ln/>
        </p:spPr>
        <p:txBody>
          <a:bodyPr wrap="square" rtlCol="0" anchor="ctr"/>
          <a:lstStyle/>
          <a:p>
            <a:pPr marL="0" indent="0" algn="ctr">
              <a:lnSpc>
                <a:spcPct val="150000"/>
              </a:lnSpc>
              <a:buNone/>
            </a:pPr>
            <a:r>
              <a:rPr lang="en-US" sz="1120" dirty="0">
                <a:solidFill>
                  <a:srgbClr val="000000"/>
                </a:solidFill>
              </a:rPr>
              <a:t>📅</a:t>
            </a:r>
            <a:endParaRPr lang="en-US" sz="1120" dirty="0"/>
          </a:p>
        </p:txBody>
      </p:sp>
      <p:sp>
        <p:nvSpPr>
          <p:cNvPr id="8" name="Text 6"/>
          <p:cNvSpPr/>
          <p:nvPr/>
        </p:nvSpPr>
        <p:spPr>
          <a:xfrm>
            <a:off x="914400" y="1463040"/>
            <a:ext cx="3474720" cy="256032"/>
          </a:xfrm>
          <a:prstGeom prst="rect">
            <a:avLst/>
          </a:prstGeom>
          <a:noFill/>
          <a:ln/>
        </p:spPr>
        <p:txBody>
          <a:bodyPr wrap="square" rtlCol="0" anchor="ctr"/>
          <a:lstStyle/>
          <a:p>
            <a:pPr marL="0" indent="0">
              <a:lnSpc>
                <a:spcPct val="150000"/>
              </a:lnSpc>
              <a:buNone/>
            </a:pPr>
            <a:r>
              <a:rPr lang="en-US" sz="1200" b="1" dirty="0">
                <a:solidFill>
                  <a:srgbClr val="C0392B"/>
                </a:solidFill>
                <a:latin typeface="Arial" pitchFamily="34" charset="0"/>
                <a:ea typeface="Arial" pitchFamily="34" charset="-122"/>
                <a:cs typeface="Arial" pitchFamily="34" charset="-120"/>
              </a:rPr>
              <a:t>Mốc thời gian dữ liệu</a:t>
            </a:r>
            <a:endParaRPr lang="en-US" sz="1200" dirty="0"/>
          </a:p>
        </p:txBody>
      </p:sp>
      <p:sp>
        <p:nvSpPr>
          <p:cNvPr id="9" name="Text 7"/>
          <p:cNvSpPr/>
          <p:nvPr/>
        </p:nvSpPr>
        <p:spPr>
          <a:xfrm>
            <a:off x="914400" y="1755648"/>
            <a:ext cx="3474720" cy="475488"/>
          </a:xfrm>
          <a:prstGeom prst="rect">
            <a:avLst/>
          </a:prstGeom>
          <a:noFill/>
          <a:ln/>
        </p:spPr>
        <p:txBody>
          <a:bodyPr wrap="square" rtlCol="0" anchor="t"/>
          <a:lstStyle/>
          <a:p>
            <a:pPr marL="0" indent="0" algn="l">
              <a:lnSpc>
                <a:spcPct val="150000"/>
              </a:lnSpc>
              <a:buNone/>
            </a:pPr>
            <a:r>
              <a:rPr lang="en-US" sz="1050" dirty="0">
                <a:solidFill>
                  <a:srgbClr val="444444"/>
                </a:solidFill>
                <a:latin typeface="Arial" pitchFamily="34" charset="0"/>
                <a:ea typeface="Arial" pitchFamily="34" charset="-122"/>
                <a:cs typeface="Arial" pitchFamily="34" charset="-120"/>
              </a:rPr>
              <a:t>Dừng lại ở 2016, chưa phản ánh kỷ nguyên microtransactions và game live-service.</a:t>
            </a:r>
            <a:endParaRPr lang="en-US" sz="1050" dirty="0"/>
          </a:p>
        </p:txBody>
      </p:sp>
      <p:sp>
        <p:nvSpPr>
          <p:cNvPr id="10" name="Shape 8"/>
          <p:cNvSpPr/>
          <p:nvPr/>
        </p:nvSpPr>
        <p:spPr>
          <a:xfrm>
            <a:off x="438912" y="2359152"/>
            <a:ext cx="365760" cy="365760"/>
          </a:xfrm>
          <a:prstGeom prst="ellipse">
            <a:avLst/>
          </a:prstGeom>
          <a:solidFill>
            <a:srgbClr val="E74C3C"/>
          </a:solidFill>
          <a:ln w="12700">
            <a:solidFill>
              <a:srgbClr val="E74C3C"/>
            </a:solidFill>
            <a:prstDash val="solid"/>
          </a:ln>
        </p:spPr>
      </p:sp>
      <p:sp>
        <p:nvSpPr>
          <p:cNvPr id="11" name="Text 9"/>
          <p:cNvSpPr/>
          <p:nvPr/>
        </p:nvSpPr>
        <p:spPr>
          <a:xfrm>
            <a:off x="438912" y="2350008"/>
            <a:ext cx="365760" cy="384048"/>
          </a:xfrm>
          <a:prstGeom prst="rect">
            <a:avLst/>
          </a:prstGeom>
          <a:noFill/>
          <a:ln/>
        </p:spPr>
        <p:txBody>
          <a:bodyPr wrap="square" rtlCol="0" anchor="ctr"/>
          <a:lstStyle/>
          <a:p>
            <a:pPr marL="0" indent="0" algn="ctr">
              <a:lnSpc>
                <a:spcPct val="150000"/>
              </a:lnSpc>
              <a:buNone/>
            </a:pPr>
            <a:r>
              <a:rPr lang="en-US" sz="1120" dirty="0">
                <a:solidFill>
                  <a:srgbClr val="000000"/>
                </a:solidFill>
              </a:rPr>
              <a:t>📱</a:t>
            </a:r>
            <a:endParaRPr lang="en-US" sz="1120" dirty="0"/>
          </a:p>
        </p:txBody>
      </p:sp>
      <p:sp>
        <p:nvSpPr>
          <p:cNvPr id="12" name="Text 10"/>
          <p:cNvSpPr/>
          <p:nvPr/>
        </p:nvSpPr>
        <p:spPr>
          <a:xfrm>
            <a:off x="914400" y="2377440"/>
            <a:ext cx="3474720" cy="256032"/>
          </a:xfrm>
          <a:prstGeom prst="rect">
            <a:avLst/>
          </a:prstGeom>
          <a:noFill/>
          <a:ln/>
        </p:spPr>
        <p:txBody>
          <a:bodyPr wrap="square" rtlCol="0" anchor="ctr"/>
          <a:lstStyle/>
          <a:p>
            <a:pPr marL="0" indent="0">
              <a:lnSpc>
                <a:spcPct val="150000"/>
              </a:lnSpc>
              <a:buNone/>
            </a:pPr>
            <a:r>
              <a:rPr lang="en-US" sz="1200" b="1" dirty="0">
                <a:solidFill>
                  <a:srgbClr val="C0392B"/>
                </a:solidFill>
                <a:latin typeface="Arial" pitchFamily="34" charset="0"/>
                <a:ea typeface="Arial" pitchFamily="34" charset="-122"/>
                <a:cs typeface="Arial" pitchFamily="34" charset="-120"/>
              </a:rPr>
              <a:t>Thiếu dữ liệu kỹ thuật số</a:t>
            </a:r>
            <a:endParaRPr lang="en-US" sz="1200" dirty="0"/>
          </a:p>
        </p:txBody>
      </p:sp>
      <p:sp>
        <p:nvSpPr>
          <p:cNvPr id="13" name="Text 11"/>
          <p:cNvSpPr/>
          <p:nvPr/>
        </p:nvSpPr>
        <p:spPr>
          <a:xfrm>
            <a:off x="914400" y="2670048"/>
            <a:ext cx="3474720" cy="475488"/>
          </a:xfrm>
          <a:prstGeom prst="rect">
            <a:avLst/>
          </a:prstGeom>
          <a:noFill/>
          <a:ln/>
        </p:spPr>
        <p:txBody>
          <a:bodyPr wrap="square" rtlCol="0" anchor="t"/>
          <a:lstStyle/>
          <a:p>
            <a:pPr marL="0" indent="0" algn="l">
              <a:lnSpc>
                <a:spcPct val="150000"/>
              </a:lnSpc>
              <a:buNone/>
            </a:pPr>
            <a:r>
              <a:rPr lang="en-US" sz="1050" dirty="0">
                <a:solidFill>
                  <a:srgbClr val="444444"/>
                </a:solidFill>
                <a:latin typeface="Arial" pitchFamily="34" charset="0"/>
                <a:ea typeface="Arial" pitchFamily="34" charset="-122"/>
                <a:cs typeface="Arial" pitchFamily="34" charset="-120"/>
              </a:rPr>
              <a:t>Bỏ qua Steam, Epic, Mobile và Free-to-Play vốn chiếm 90% doanh thu hiện nay.</a:t>
            </a:r>
            <a:endParaRPr lang="en-US" sz="1050" dirty="0"/>
          </a:p>
        </p:txBody>
      </p:sp>
      <p:sp>
        <p:nvSpPr>
          <p:cNvPr id="14" name="Shape 12"/>
          <p:cNvSpPr/>
          <p:nvPr/>
        </p:nvSpPr>
        <p:spPr>
          <a:xfrm>
            <a:off x="438912" y="3273552"/>
            <a:ext cx="365760" cy="365760"/>
          </a:xfrm>
          <a:prstGeom prst="ellipse">
            <a:avLst/>
          </a:prstGeom>
          <a:solidFill>
            <a:srgbClr val="E74C3C"/>
          </a:solidFill>
          <a:ln w="12700">
            <a:solidFill>
              <a:srgbClr val="E74C3C"/>
            </a:solidFill>
            <a:prstDash val="solid"/>
          </a:ln>
        </p:spPr>
      </p:sp>
      <p:sp>
        <p:nvSpPr>
          <p:cNvPr id="15" name="Text 13"/>
          <p:cNvSpPr/>
          <p:nvPr/>
        </p:nvSpPr>
        <p:spPr>
          <a:xfrm>
            <a:off x="438912" y="3264408"/>
            <a:ext cx="365760" cy="384048"/>
          </a:xfrm>
          <a:prstGeom prst="rect">
            <a:avLst/>
          </a:prstGeom>
          <a:noFill/>
          <a:ln/>
        </p:spPr>
        <p:txBody>
          <a:bodyPr wrap="square" rtlCol="0" anchor="ctr"/>
          <a:lstStyle/>
          <a:p>
            <a:pPr marL="0" indent="0" algn="ctr">
              <a:lnSpc>
                <a:spcPct val="150000"/>
              </a:lnSpc>
              <a:buNone/>
            </a:pPr>
            <a:r>
              <a:rPr lang="en-US" sz="1120" dirty="0">
                <a:solidFill>
                  <a:srgbClr val="000000"/>
                </a:solidFill>
              </a:rPr>
              <a:t>🔢</a:t>
            </a:r>
            <a:endParaRPr lang="en-US" sz="1120" dirty="0"/>
          </a:p>
        </p:txBody>
      </p:sp>
      <p:sp>
        <p:nvSpPr>
          <p:cNvPr id="16" name="Text 14"/>
          <p:cNvSpPr/>
          <p:nvPr/>
        </p:nvSpPr>
        <p:spPr>
          <a:xfrm>
            <a:off x="914400" y="3291840"/>
            <a:ext cx="3474720" cy="256032"/>
          </a:xfrm>
          <a:prstGeom prst="rect">
            <a:avLst/>
          </a:prstGeom>
          <a:noFill/>
          <a:ln/>
        </p:spPr>
        <p:txBody>
          <a:bodyPr wrap="square" rtlCol="0" anchor="ctr"/>
          <a:lstStyle/>
          <a:p>
            <a:pPr marL="0" indent="0">
              <a:lnSpc>
                <a:spcPct val="150000"/>
              </a:lnSpc>
              <a:buNone/>
            </a:pPr>
            <a:r>
              <a:rPr lang="en-US" sz="1200" b="1" dirty="0">
                <a:solidFill>
                  <a:srgbClr val="C0392B"/>
                </a:solidFill>
                <a:latin typeface="Arial" pitchFamily="34" charset="0"/>
                <a:ea typeface="Arial" pitchFamily="34" charset="-122"/>
                <a:cs typeface="Arial" pitchFamily="34" charset="-120"/>
              </a:rPr>
              <a:t>Biến đặc trưng hạn chế</a:t>
            </a:r>
            <a:endParaRPr lang="en-US" sz="1200" dirty="0"/>
          </a:p>
        </p:txBody>
      </p:sp>
      <p:sp>
        <p:nvSpPr>
          <p:cNvPr id="17" name="Text 15"/>
          <p:cNvSpPr/>
          <p:nvPr/>
        </p:nvSpPr>
        <p:spPr>
          <a:xfrm>
            <a:off x="914400" y="3584448"/>
            <a:ext cx="3474720" cy="475488"/>
          </a:xfrm>
          <a:prstGeom prst="rect">
            <a:avLst/>
          </a:prstGeom>
          <a:noFill/>
          <a:ln/>
        </p:spPr>
        <p:txBody>
          <a:bodyPr wrap="square" rtlCol="0" anchor="t"/>
          <a:lstStyle/>
          <a:p>
            <a:pPr marL="0" indent="0" algn="l">
              <a:lnSpc>
                <a:spcPct val="150000"/>
              </a:lnSpc>
              <a:buNone/>
            </a:pPr>
            <a:r>
              <a:rPr lang="en-US" sz="1050" dirty="0">
                <a:solidFill>
                  <a:srgbClr val="444444"/>
                </a:solidFill>
                <a:latin typeface="Arial" pitchFamily="34" charset="0"/>
                <a:ea typeface="Arial" pitchFamily="34" charset="-122"/>
                <a:cs typeface="Arial" pitchFamily="34" charset="-120"/>
              </a:rPr>
              <a:t>Chưa tích hợp: Metacritic score, ESRB rating, ngân sách quảng cáo, chi phí phát triển.</a:t>
            </a:r>
            <a:endParaRPr lang="en-US" sz="1050" dirty="0"/>
          </a:p>
        </p:txBody>
      </p:sp>
      <p:sp>
        <p:nvSpPr>
          <p:cNvPr id="18" name="Shape 16"/>
          <p:cNvSpPr/>
          <p:nvPr/>
        </p:nvSpPr>
        <p:spPr>
          <a:xfrm>
            <a:off x="4754880" y="914400"/>
            <a:ext cx="4206240" cy="4114800"/>
          </a:xfrm>
          <a:prstGeom prst="roundRect">
            <a:avLst>
              <a:gd name="adj" fmla="val 2222"/>
            </a:avLst>
          </a:prstGeom>
          <a:solidFill>
            <a:srgbClr val="FFFFFF"/>
          </a:solidFill>
          <a:ln/>
          <a:effectLst>
            <a:outerShdw blurRad="101600" dist="38100" dir="2700000" algn="bl" rotWithShape="0">
              <a:srgbClr val="000000">
                <a:alpha val="12000"/>
              </a:srgbClr>
            </a:outerShdw>
          </a:effectLst>
        </p:spPr>
      </p:sp>
      <p:sp>
        <p:nvSpPr>
          <p:cNvPr id="19" name="Shape 17"/>
          <p:cNvSpPr/>
          <p:nvPr/>
        </p:nvSpPr>
        <p:spPr>
          <a:xfrm>
            <a:off x="4754880" y="914400"/>
            <a:ext cx="4206240" cy="402336"/>
          </a:xfrm>
          <a:prstGeom prst="rect">
            <a:avLst/>
          </a:prstGeom>
          <a:solidFill>
            <a:srgbClr val="3DAA6E"/>
          </a:solidFill>
          <a:ln/>
        </p:spPr>
      </p:sp>
      <p:sp>
        <p:nvSpPr>
          <p:cNvPr id="20" name="Text 18"/>
          <p:cNvSpPr/>
          <p:nvPr/>
        </p:nvSpPr>
        <p:spPr>
          <a:xfrm>
            <a:off x="4892040" y="941832"/>
            <a:ext cx="3931920" cy="347472"/>
          </a:xfrm>
          <a:prstGeom prst="rect">
            <a:avLst/>
          </a:prstGeom>
          <a:noFill/>
          <a:ln/>
        </p:spPr>
        <p:txBody>
          <a:bodyPr wrap="square" rtlCol="0" anchor="ctr"/>
          <a:lstStyle/>
          <a:p>
            <a:pPr marL="0" indent="0">
              <a:lnSpc>
                <a:spcPct val="150000"/>
              </a:lnSpc>
              <a:buNone/>
            </a:pPr>
            <a:r>
              <a:rPr lang="en-US" sz="1300" b="1" dirty="0">
                <a:solidFill>
                  <a:srgbClr val="FFFFFF"/>
                </a:solidFill>
                <a:latin typeface="Arial" pitchFamily="34" charset="0"/>
                <a:ea typeface="Arial" pitchFamily="34" charset="-122"/>
                <a:cs typeface="Arial" pitchFamily="34" charset="-120"/>
              </a:rPr>
              <a:t>🚀  Hướng Phát Triển Hoàn Thiện</a:t>
            </a:r>
            <a:endParaRPr lang="en-US" sz="1300" dirty="0"/>
          </a:p>
        </p:txBody>
      </p:sp>
      <p:sp>
        <p:nvSpPr>
          <p:cNvPr id="21" name="Shape 19"/>
          <p:cNvSpPr/>
          <p:nvPr/>
        </p:nvSpPr>
        <p:spPr>
          <a:xfrm>
            <a:off x="4892040" y="1444752"/>
            <a:ext cx="365760" cy="365760"/>
          </a:xfrm>
          <a:prstGeom prst="ellipse">
            <a:avLst/>
          </a:prstGeom>
          <a:solidFill>
            <a:srgbClr val="3DAA6E"/>
          </a:solidFill>
          <a:ln w="12700">
            <a:solidFill>
              <a:srgbClr val="3DAA6E"/>
            </a:solidFill>
            <a:prstDash val="solid"/>
          </a:ln>
        </p:spPr>
      </p:sp>
      <p:sp>
        <p:nvSpPr>
          <p:cNvPr id="22" name="Text 20"/>
          <p:cNvSpPr/>
          <p:nvPr/>
        </p:nvSpPr>
        <p:spPr>
          <a:xfrm>
            <a:off x="4892040" y="1435608"/>
            <a:ext cx="365760" cy="384048"/>
          </a:xfrm>
          <a:prstGeom prst="rect">
            <a:avLst/>
          </a:prstGeom>
          <a:noFill/>
          <a:ln/>
        </p:spPr>
        <p:txBody>
          <a:bodyPr wrap="square" rtlCol="0" anchor="ctr"/>
          <a:lstStyle/>
          <a:p>
            <a:pPr marL="0" indent="0" algn="ctr">
              <a:lnSpc>
                <a:spcPct val="150000"/>
              </a:lnSpc>
              <a:buNone/>
            </a:pPr>
            <a:r>
              <a:rPr lang="en-US" sz="1120" dirty="0">
                <a:solidFill>
                  <a:srgbClr val="000000"/>
                </a:solidFill>
              </a:rPr>
              <a:t>🔗</a:t>
            </a:r>
            <a:endParaRPr lang="en-US" sz="1120" dirty="0"/>
          </a:p>
        </p:txBody>
      </p:sp>
      <p:sp>
        <p:nvSpPr>
          <p:cNvPr id="23" name="Text 21"/>
          <p:cNvSpPr/>
          <p:nvPr/>
        </p:nvSpPr>
        <p:spPr>
          <a:xfrm>
            <a:off x="5367528" y="1463040"/>
            <a:ext cx="3474720" cy="237744"/>
          </a:xfrm>
          <a:prstGeom prst="rect">
            <a:avLst/>
          </a:prstGeom>
          <a:noFill/>
          <a:ln/>
        </p:spPr>
        <p:txBody>
          <a:bodyPr wrap="square" rtlCol="0" anchor="ctr"/>
          <a:lstStyle/>
          <a:p>
            <a:pPr marL="0" indent="0">
              <a:lnSpc>
                <a:spcPct val="150000"/>
              </a:lnSpc>
              <a:buNone/>
            </a:pPr>
            <a:r>
              <a:rPr lang="en-US" sz="1150" b="1" dirty="0">
                <a:solidFill>
                  <a:srgbClr val="3DAA6E"/>
                </a:solidFill>
                <a:latin typeface="Arial" pitchFamily="34" charset="0"/>
                <a:ea typeface="Arial" pitchFamily="34" charset="-122"/>
                <a:cs typeface="Arial" pitchFamily="34" charset="-120"/>
              </a:rPr>
              <a:t>Cập nhật dữ liệu mới</a:t>
            </a:r>
            <a:endParaRPr lang="en-US" sz="1150" dirty="0"/>
          </a:p>
        </p:txBody>
      </p:sp>
      <p:sp>
        <p:nvSpPr>
          <p:cNvPr id="24" name="Text 22"/>
          <p:cNvSpPr/>
          <p:nvPr/>
        </p:nvSpPr>
        <p:spPr>
          <a:xfrm>
            <a:off x="5367528" y="1737360"/>
            <a:ext cx="3456432" cy="347472"/>
          </a:xfrm>
          <a:prstGeom prst="rect">
            <a:avLst/>
          </a:prstGeom>
          <a:noFill/>
          <a:ln/>
        </p:spPr>
        <p:txBody>
          <a:bodyPr wrap="square" rtlCol="0" anchor="t"/>
          <a:lstStyle/>
          <a:p>
            <a:pPr marL="0" indent="0" algn="l">
              <a:lnSpc>
                <a:spcPct val="150000"/>
              </a:lnSpc>
              <a:buNone/>
            </a:pPr>
            <a:r>
              <a:rPr lang="en-US" sz="1000" dirty="0">
                <a:solidFill>
                  <a:srgbClr val="444444"/>
                </a:solidFill>
                <a:latin typeface="Arial" pitchFamily="34" charset="0"/>
                <a:ea typeface="Arial" pitchFamily="34" charset="-122"/>
                <a:cs typeface="Arial" pitchFamily="34" charset="-120"/>
              </a:rPr>
              <a:t>Kết nối API Steam &amp; Metacritic để lấy dữ liệu đánh giá thực tế từ 2020-2026.</a:t>
            </a:r>
            <a:endParaRPr lang="en-US" sz="1000" dirty="0"/>
          </a:p>
        </p:txBody>
      </p:sp>
      <p:sp>
        <p:nvSpPr>
          <p:cNvPr id="25" name="Shape 23"/>
          <p:cNvSpPr/>
          <p:nvPr/>
        </p:nvSpPr>
        <p:spPr>
          <a:xfrm>
            <a:off x="4892040" y="2257552"/>
            <a:ext cx="365760" cy="365760"/>
          </a:xfrm>
          <a:prstGeom prst="ellipse">
            <a:avLst/>
          </a:prstGeom>
          <a:solidFill>
            <a:srgbClr val="3DAA6E"/>
          </a:solidFill>
          <a:ln w="12700">
            <a:solidFill>
              <a:srgbClr val="3DAA6E"/>
            </a:solidFill>
            <a:prstDash val="solid"/>
          </a:ln>
        </p:spPr>
      </p:sp>
      <p:sp>
        <p:nvSpPr>
          <p:cNvPr id="26" name="Text 24"/>
          <p:cNvSpPr/>
          <p:nvPr/>
        </p:nvSpPr>
        <p:spPr>
          <a:xfrm>
            <a:off x="4892040" y="2248408"/>
            <a:ext cx="365760" cy="384048"/>
          </a:xfrm>
          <a:prstGeom prst="rect">
            <a:avLst/>
          </a:prstGeom>
          <a:noFill/>
          <a:ln/>
        </p:spPr>
        <p:txBody>
          <a:bodyPr wrap="square" rtlCol="0" anchor="ctr"/>
          <a:lstStyle/>
          <a:p>
            <a:pPr marL="0" indent="0" algn="ctr">
              <a:lnSpc>
                <a:spcPct val="150000"/>
              </a:lnSpc>
              <a:buNone/>
            </a:pPr>
            <a:r>
              <a:rPr lang="en-US" sz="1120" dirty="0">
                <a:solidFill>
                  <a:srgbClr val="000000"/>
                </a:solidFill>
              </a:rPr>
              <a:t>🧠</a:t>
            </a:r>
            <a:endParaRPr lang="en-US" sz="1120" dirty="0"/>
          </a:p>
        </p:txBody>
      </p:sp>
      <p:sp>
        <p:nvSpPr>
          <p:cNvPr id="27" name="Text 25"/>
          <p:cNvSpPr/>
          <p:nvPr/>
        </p:nvSpPr>
        <p:spPr>
          <a:xfrm>
            <a:off x="5367528" y="2275840"/>
            <a:ext cx="3474720" cy="237744"/>
          </a:xfrm>
          <a:prstGeom prst="rect">
            <a:avLst/>
          </a:prstGeom>
          <a:noFill/>
          <a:ln/>
        </p:spPr>
        <p:txBody>
          <a:bodyPr wrap="square" rtlCol="0" anchor="ctr"/>
          <a:lstStyle/>
          <a:p>
            <a:pPr marL="0" indent="0">
              <a:lnSpc>
                <a:spcPct val="150000"/>
              </a:lnSpc>
              <a:buNone/>
            </a:pPr>
            <a:r>
              <a:rPr lang="en-US" sz="1150" b="1" dirty="0">
                <a:solidFill>
                  <a:srgbClr val="3DAA6E"/>
                </a:solidFill>
                <a:latin typeface="Arial" pitchFamily="34" charset="0"/>
                <a:ea typeface="Arial" pitchFamily="34" charset="-122"/>
                <a:cs typeface="Arial" pitchFamily="34" charset="-120"/>
              </a:rPr>
              <a:t>Tích hợp Deep Learning</a:t>
            </a:r>
            <a:endParaRPr lang="en-US" sz="1150" dirty="0"/>
          </a:p>
        </p:txBody>
      </p:sp>
      <p:sp>
        <p:nvSpPr>
          <p:cNvPr id="28" name="Text 26"/>
          <p:cNvSpPr/>
          <p:nvPr/>
        </p:nvSpPr>
        <p:spPr>
          <a:xfrm>
            <a:off x="5367528" y="2550160"/>
            <a:ext cx="3456432" cy="347472"/>
          </a:xfrm>
          <a:prstGeom prst="rect">
            <a:avLst/>
          </a:prstGeom>
          <a:noFill/>
          <a:ln/>
        </p:spPr>
        <p:txBody>
          <a:bodyPr wrap="square" rtlCol="0" anchor="t"/>
          <a:lstStyle/>
          <a:p>
            <a:pPr marL="0" indent="0" algn="l">
              <a:lnSpc>
                <a:spcPct val="150000"/>
              </a:lnSpc>
              <a:buNone/>
            </a:pPr>
            <a:r>
              <a:rPr lang="en-US" sz="1000" dirty="0">
                <a:solidFill>
                  <a:srgbClr val="444444"/>
                </a:solidFill>
                <a:latin typeface="Arial" pitchFamily="34" charset="0"/>
                <a:ea typeface="Arial" pitchFamily="34" charset="-122"/>
                <a:cs typeface="Arial" pitchFamily="34" charset="-120"/>
              </a:rPr>
              <a:t>Áp dụng MLP (Multi-Layer Perceptron) tối ưu độ chính xác hồi quy phi tuyến.</a:t>
            </a:r>
            <a:endParaRPr lang="en-US" sz="1000" dirty="0"/>
          </a:p>
        </p:txBody>
      </p:sp>
      <p:sp>
        <p:nvSpPr>
          <p:cNvPr id="29" name="Shape 27"/>
          <p:cNvSpPr/>
          <p:nvPr/>
        </p:nvSpPr>
        <p:spPr>
          <a:xfrm>
            <a:off x="4892040" y="3099308"/>
            <a:ext cx="365760" cy="365760"/>
          </a:xfrm>
          <a:prstGeom prst="ellipse">
            <a:avLst/>
          </a:prstGeom>
          <a:solidFill>
            <a:srgbClr val="3DAA6E"/>
          </a:solidFill>
          <a:ln w="12700">
            <a:solidFill>
              <a:srgbClr val="3DAA6E"/>
            </a:solidFill>
            <a:prstDash val="solid"/>
          </a:ln>
        </p:spPr>
      </p:sp>
      <p:sp>
        <p:nvSpPr>
          <p:cNvPr id="30" name="Text 28"/>
          <p:cNvSpPr/>
          <p:nvPr/>
        </p:nvSpPr>
        <p:spPr>
          <a:xfrm>
            <a:off x="4892040" y="3090164"/>
            <a:ext cx="365760" cy="384048"/>
          </a:xfrm>
          <a:prstGeom prst="rect">
            <a:avLst/>
          </a:prstGeom>
          <a:noFill/>
          <a:ln/>
        </p:spPr>
        <p:txBody>
          <a:bodyPr wrap="square" rtlCol="0" anchor="ctr"/>
          <a:lstStyle/>
          <a:p>
            <a:pPr marL="0" indent="0" algn="ctr">
              <a:lnSpc>
                <a:spcPct val="150000"/>
              </a:lnSpc>
              <a:buNone/>
            </a:pPr>
            <a:r>
              <a:rPr lang="en-US" sz="1120" dirty="0">
                <a:solidFill>
                  <a:srgbClr val="000000"/>
                </a:solidFill>
              </a:rPr>
              <a:t>🎯</a:t>
            </a:r>
            <a:endParaRPr lang="en-US" sz="1120" dirty="0"/>
          </a:p>
        </p:txBody>
      </p:sp>
      <p:sp>
        <p:nvSpPr>
          <p:cNvPr id="31" name="Text 29"/>
          <p:cNvSpPr/>
          <p:nvPr/>
        </p:nvSpPr>
        <p:spPr>
          <a:xfrm>
            <a:off x="5367528" y="3117596"/>
            <a:ext cx="3474720" cy="237744"/>
          </a:xfrm>
          <a:prstGeom prst="rect">
            <a:avLst/>
          </a:prstGeom>
          <a:noFill/>
          <a:ln/>
        </p:spPr>
        <p:txBody>
          <a:bodyPr wrap="square" rtlCol="0" anchor="ctr"/>
          <a:lstStyle/>
          <a:p>
            <a:pPr marL="0" indent="0">
              <a:lnSpc>
                <a:spcPct val="150000"/>
              </a:lnSpc>
              <a:buNone/>
            </a:pPr>
            <a:r>
              <a:rPr lang="en-US" sz="1150" b="1" dirty="0">
                <a:solidFill>
                  <a:srgbClr val="3DAA6E"/>
                </a:solidFill>
                <a:latin typeface="Arial" pitchFamily="34" charset="0"/>
                <a:ea typeface="Arial" pitchFamily="34" charset="-122"/>
                <a:cs typeface="Arial" pitchFamily="34" charset="-120"/>
              </a:rPr>
              <a:t>Hệ thống gợi ý game</a:t>
            </a:r>
            <a:endParaRPr lang="en-US" sz="1150" dirty="0"/>
          </a:p>
        </p:txBody>
      </p:sp>
      <p:sp>
        <p:nvSpPr>
          <p:cNvPr id="32" name="Text 30"/>
          <p:cNvSpPr/>
          <p:nvPr/>
        </p:nvSpPr>
        <p:spPr>
          <a:xfrm>
            <a:off x="5367528" y="3391916"/>
            <a:ext cx="3456432" cy="347472"/>
          </a:xfrm>
          <a:prstGeom prst="rect">
            <a:avLst/>
          </a:prstGeom>
          <a:noFill/>
          <a:ln/>
        </p:spPr>
        <p:txBody>
          <a:bodyPr wrap="square" rtlCol="0" anchor="t"/>
          <a:lstStyle/>
          <a:p>
            <a:pPr marL="0" indent="0" algn="l">
              <a:lnSpc>
                <a:spcPct val="150000"/>
              </a:lnSpc>
              <a:buNone/>
            </a:pPr>
            <a:r>
              <a:rPr lang="en-US" sz="1000" dirty="0">
                <a:solidFill>
                  <a:srgbClr val="444444"/>
                </a:solidFill>
                <a:latin typeface="Arial" pitchFamily="34" charset="0"/>
                <a:ea typeface="Arial" pitchFamily="34" charset="-122"/>
                <a:cs typeface="Arial" pitchFamily="34" charset="-120"/>
              </a:rPr>
              <a:t>Xây dựng Recommendation System dựa trên phân cụm phục vụ người dùng cuối.</a:t>
            </a:r>
            <a:endParaRPr lang="en-US" sz="1000" dirty="0"/>
          </a:p>
        </p:txBody>
      </p:sp>
      <p:sp>
        <p:nvSpPr>
          <p:cNvPr id="33" name="Shape 31"/>
          <p:cNvSpPr/>
          <p:nvPr/>
        </p:nvSpPr>
        <p:spPr>
          <a:xfrm>
            <a:off x="4892040" y="3936238"/>
            <a:ext cx="365760" cy="365760"/>
          </a:xfrm>
          <a:prstGeom prst="ellipse">
            <a:avLst/>
          </a:prstGeom>
          <a:solidFill>
            <a:srgbClr val="3DAA6E"/>
          </a:solidFill>
          <a:ln w="12700">
            <a:solidFill>
              <a:srgbClr val="3DAA6E"/>
            </a:solidFill>
            <a:prstDash val="solid"/>
          </a:ln>
        </p:spPr>
      </p:sp>
      <p:sp>
        <p:nvSpPr>
          <p:cNvPr id="34" name="Text 32"/>
          <p:cNvSpPr/>
          <p:nvPr/>
        </p:nvSpPr>
        <p:spPr>
          <a:xfrm>
            <a:off x="4892040" y="3927094"/>
            <a:ext cx="365760" cy="384048"/>
          </a:xfrm>
          <a:prstGeom prst="rect">
            <a:avLst/>
          </a:prstGeom>
          <a:noFill/>
          <a:ln/>
        </p:spPr>
        <p:txBody>
          <a:bodyPr wrap="square" rtlCol="0" anchor="ctr"/>
          <a:lstStyle/>
          <a:p>
            <a:pPr marL="0" indent="0" algn="ctr">
              <a:lnSpc>
                <a:spcPct val="150000"/>
              </a:lnSpc>
              <a:buNone/>
            </a:pPr>
            <a:r>
              <a:rPr lang="en-US" sz="1120" dirty="0">
                <a:solidFill>
                  <a:srgbClr val="000000"/>
                </a:solidFill>
              </a:rPr>
              <a:t>📊</a:t>
            </a:r>
            <a:endParaRPr lang="en-US" sz="1120" dirty="0"/>
          </a:p>
        </p:txBody>
      </p:sp>
      <p:sp>
        <p:nvSpPr>
          <p:cNvPr id="35" name="Text 33"/>
          <p:cNvSpPr/>
          <p:nvPr/>
        </p:nvSpPr>
        <p:spPr>
          <a:xfrm>
            <a:off x="5367528" y="3954526"/>
            <a:ext cx="3474720" cy="237744"/>
          </a:xfrm>
          <a:prstGeom prst="rect">
            <a:avLst/>
          </a:prstGeom>
          <a:noFill/>
          <a:ln/>
        </p:spPr>
        <p:txBody>
          <a:bodyPr wrap="square" rtlCol="0" anchor="ctr"/>
          <a:lstStyle/>
          <a:p>
            <a:pPr marL="0" indent="0">
              <a:lnSpc>
                <a:spcPct val="150000"/>
              </a:lnSpc>
              <a:buNone/>
            </a:pPr>
            <a:r>
              <a:rPr lang="en-US" sz="1150" b="1" dirty="0">
                <a:solidFill>
                  <a:srgbClr val="3DAA6E"/>
                </a:solidFill>
                <a:latin typeface="Arial" pitchFamily="34" charset="0"/>
                <a:ea typeface="Arial" pitchFamily="34" charset="-122"/>
                <a:cs typeface="Arial" pitchFamily="34" charset="-120"/>
              </a:rPr>
              <a:t>Phân tích sentiment</a:t>
            </a:r>
            <a:endParaRPr lang="en-US" sz="1150" dirty="0"/>
          </a:p>
        </p:txBody>
      </p:sp>
      <p:sp>
        <p:nvSpPr>
          <p:cNvPr id="36" name="Text 34"/>
          <p:cNvSpPr/>
          <p:nvPr/>
        </p:nvSpPr>
        <p:spPr>
          <a:xfrm>
            <a:off x="5367528" y="4228846"/>
            <a:ext cx="3456432" cy="347472"/>
          </a:xfrm>
          <a:prstGeom prst="rect">
            <a:avLst/>
          </a:prstGeom>
          <a:noFill/>
          <a:ln/>
        </p:spPr>
        <p:txBody>
          <a:bodyPr wrap="square" rtlCol="0" anchor="t"/>
          <a:lstStyle/>
          <a:p>
            <a:pPr marL="0" indent="0" algn="l">
              <a:lnSpc>
                <a:spcPct val="150000"/>
              </a:lnSpc>
              <a:buNone/>
            </a:pPr>
            <a:r>
              <a:rPr lang="en-US" sz="1000" dirty="0">
                <a:solidFill>
                  <a:srgbClr val="444444"/>
                </a:solidFill>
                <a:latin typeface="Arial" pitchFamily="34" charset="0"/>
                <a:ea typeface="Arial" pitchFamily="34" charset="-122"/>
                <a:cs typeface="Arial" pitchFamily="34" charset="-120"/>
              </a:rPr>
              <a:t>Kết hợp NLP phân tích đánh giá người dùng từ Metacritic và Steam Reviews.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76330-A933-5037-20BD-A1D6C20E6E1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6009BC3-54AA-A0F7-C68C-FE7258B51F95}"/>
              </a:ext>
            </a:extLst>
          </p:cNvPr>
          <p:cNvSpPr/>
          <p:nvPr/>
        </p:nvSpPr>
        <p:spPr>
          <a:xfrm>
            <a:off x="-457200" y="2286000"/>
            <a:ext cx="3200400" cy="3200400"/>
          </a:xfrm>
          <a:prstGeom prst="ellipse">
            <a:avLst/>
          </a:prstGeom>
          <a:solidFill>
            <a:srgbClr val="00B0F0">
              <a:alpha val="25000"/>
            </a:srgbClr>
          </a:solidFill>
          <a:ln w="12700">
            <a:solidFill>
              <a:srgbClr val="2D6A9F">
                <a:alpha val="25000"/>
              </a:srgbClr>
            </a:solidFill>
            <a:prstDash val="solid"/>
          </a:ln>
        </p:spPr>
      </p:sp>
      <p:sp>
        <p:nvSpPr>
          <p:cNvPr id="3" name="Shape 1">
            <a:extLst>
              <a:ext uri="{FF2B5EF4-FFF2-40B4-BE49-F238E27FC236}">
                <a16:creationId xmlns:a16="http://schemas.microsoft.com/office/drawing/2014/main" id="{A9C8A078-5981-6546-E7C6-EF1CB0CE0AA4}"/>
              </a:ext>
            </a:extLst>
          </p:cNvPr>
          <p:cNvSpPr/>
          <p:nvPr/>
        </p:nvSpPr>
        <p:spPr>
          <a:xfrm>
            <a:off x="7498080" y="-457200"/>
            <a:ext cx="2743200" cy="2743200"/>
          </a:xfrm>
          <a:prstGeom prst="ellipse">
            <a:avLst/>
          </a:prstGeom>
          <a:solidFill>
            <a:srgbClr val="FF0000">
              <a:alpha val="35000"/>
            </a:srgbClr>
          </a:solidFill>
          <a:ln w="12700">
            <a:solidFill>
              <a:srgbClr val="E8543A">
                <a:alpha val="35000"/>
              </a:srgbClr>
            </a:solidFill>
            <a:prstDash val="solid"/>
          </a:ln>
        </p:spPr>
      </p:sp>
      <p:sp>
        <p:nvSpPr>
          <p:cNvPr id="4" name="Text 2">
            <a:extLst>
              <a:ext uri="{FF2B5EF4-FFF2-40B4-BE49-F238E27FC236}">
                <a16:creationId xmlns:a16="http://schemas.microsoft.com/office/drawing/2014/main" id="{0750FF99-65AB-A640-6792-D44086FDE7CB}"/>
              </a:ext>
            </a:extLst>
          </p:cNvPr>
          <p:cNvSpPr/>
          <p:nvPr/>
        </p:nvSpPr>
        <p:spPr>
          <a:xfrm>
            <a:off x="3931920" y="411480"/>
            <a:ext cx="1280160" cy="1005840"/>
          </a:xfrm>
          <a:prstGeom prst="rect">
            <a:avLst/>
          </a:prstGeom>
          <a:noFill/>
          <a:ln/>
        </p:spPr>
        <p:txBody>
          <a:bodyPr wrap="square" rtlCol="0" anchor="ctr"/>
          <a:lstStyle/>
          <a:p>
            <a:pPr marL="0" indent="0" algn="ctr">
              <a:buNone/>
            </a:pPr>
            <a:r>
              <a:rPr lang="en-US" sz="5200" dirty="0">
                <a:solidFill>
                  <a:srgbClr val="000000"/>
                </a:solidFill>
              </a:rPr>
              <a:t>🎮</a:t>
            </a:r>
            <a:endParaRPr lang="en-US" sz="5200" dirty="0"/>
          </a:p>
        </p:txBody>
      </p:sp>
      <p:sp>
        <p:nvSpPr>
          <p:cNvPr id="5" name="Text 3">
            <a:extLst>
              <a:ext uri="{FF2B5EF4-FFF2-40B4-BE49-F238E27FC236}">
                <a16:creationId xmlns:a16="http://schemas.microsoft.com/office/drawing/2014/main" id="{694F7C63-B641-4136-CA5A-E207259ED7CA}"/>
              </a:ext>
            </a:extLst>
          </p:cNvPr>
          <p:cNvSpPr/>
          <p:nvPr/>
        </p:nvSpPr>
        <p:spPr>
          <a:xfrm>
            <a:off x="731520" y="1298448"/>
            <a:ext cx="7680960" cy="1188720"/>
          </a:xfrm>
          <a:prstGeom prst="rect">
            <a:avLst/>
          </a:prstGeom>
          <a:noFill/>
          <a:ln/>
        </p:spPr>
        <p:txBody>
          <a:bodyPr wrap="square" rtlCol="0" anchor="ctr"/>
          <a:lstStyle/>
          <a:p>
            <a:pPr marL="0" indent="0" algn="ctr">
              <a:buNone/>
            </a:pPr>
            <a:r>
              <a:rPr lang="en-US" sz="4200" b="1" dirty="0">
                <a:solidFill>
                  <a:srgbClr val="FF0000"/>
                </a:solidFill>
                <a:latin typeface="Arial" pitchFamily="34" charset="0"/>
                <a:ea typeface="Arial" pitchFamily="34" charset="-122"/>
                <a:cs typeface="Arial" pitchFamily="34" charset="-120"/>
              </a:rPr>
              <a:t>Cảm Ơn Thầy Đã Lắng Nghe!</a:t>
            </a:r>
            <a:endParaRPr lang="en-US" sz="4200" dirty="0">
              <a:solidFill>
                <a:srgbClr val="FF0000"/>
              </a:solidFill>
            </a:endParaRPr>
          </a:p>
        </p:txBody>
      </p:sp>
      <p:sp>
        <p:nvSpPr>
          <p:cNvPr id="6" name="Shape 4">
            <a:extLst>
              <a:ext uri="{FF2B5EF4-FFF2-40B4-BE49-F238E27FC236}">
                <a16:creationId xmlns:a16="http://schemas.microsoft.com/office/drawing/2014/main" id="{72AC8570-5D01-F64E-5050-6C71113F3E82}"/>
              </a:ext>
            </a:extLst>
          </p:cNvPr>
          <p:cNvSpPr/>
          <p:nvPr/>
        </p:nvSpPr>
        <p:spPr>
          <a:xfrm>
            <a:off x="3108960" y="2633472"/>
            <a:ext cx="2926080" cy="36576"/>
          </a:xfrm>
          <a:prstGeom prst="rect">
            <a:avLst/>
          </a:prstGeom>
          <a:solidFill>
            <a:srgbClr val="E8543A"/>
          </a:solidFill>
          <a:ln w="12700">
            <a:solidFill>
              <a:srgbClr val="E8543A"/>
            </a:solidFill>
            <a:prstDash val="solid"/>
          </a:ln>
        </p:spPr>
      </p:sp>
      <p:sp>
        <p:nvSpPr>
          <p:cNvPr id="7" name="Text 5">
            <a:extLst>
              <a:ext uri="{FF2B5EF4-FFF2-40B4-BE49-F238E27FC236}">
                <a16:creationId xmlns:a16="http://schemas.microsoft.com/office/drawing/2014/main" id="{525B2116-E51E-6851-62D0-2FC7A38F3951}"/>
              </a:ext>
            </a:extLst>
          </p:cNvPr>
          <p:cNvSpPr/>
          <p:nvPr/>
        </p:nvSpPr>
        <p:spPr>
          <a:xfrm>
            <a:off x="914400" y="2999232"/>
            <a:ext cx="7315200" cy="548640"/>
          </a:xfrm>
          <a:prstGeom prst="rect">
            <a:avLst/>
          </a:prstGeom>
          <a:noFill/>
          <a:ln/>
        </p:spPr>
        <p:txBody>
          <a:bodyPr wrap="square" rtlCol="0" anchor="ctr"/>
          <a:lstStyle/>
          <a:p>
            <a:pPr marL="0" indent="0" algn="ctr">
              <a:buNone/>
            </a:pPr>
            <a:r>
              <a:rPr lang="en-US" dirty="0">
                <a:solidFill>
                  <a:srgbClr val="002060"/>
                </a:solidFill>
                <a:latin typeface="Arial" pitchFamily="34" charset="0"/>
                <a:ea typeface="Arial" pitchFamily="34" charset="-122"/>
                <a:cs typeface="Arial" pitchFamily="34" charset="-120"/>
              </a:rPr>
              <a:t>Em xin chúc Thầy Nguyễn Văn Huy dồi dào sức khỏe và gặt hái nhiều thành công trong sự nghiệp nghiên cứu và giảng dạy.</a:t>
            </a:r>
            <a:endParaRPr lang="en-US" dirty="0">
              <a:solidFill>
                <a:srgbClr val="002060"/>
              </a:solidFill>
            </a:endParaRPr>
          </a:p>
        </p:txBody>
      </p:sp>
      <p:sp>
        <p:nvSpPr>
          <p:cNvPr id="8" name="Text 6">
            <a:extLst>
              <a:ext uri="{FF2B5EF4-FFF2-40B4-BE49-F238E27FC236}">
                <a16:creationId xmlns:a16="http://schemas.microsoft.com/office/drawing/2014/main" id="{D681745C-06C0-E9C6-7F69-A4B5CA12A811}"/>
              </a:ext>
            </a:extLst>
          </p:cNvPr>
          <p:cNvSpPr/>
          <p:nvPr/>
        </p:nvSpPr>
        <p:spPr>
          <a:xfrm>
            <a:off x="920496" y="3877056"/>
            <a:ext cx="7315200" cy="384048"/>
          </a:xfrm>
          <a:prstGeom prst="rect">
            <a:avLst/>
          </a:prstGeom>
          <a:noFill/>
          <a:ln/>
        </p:spPr>
        <p:txBody>
          <a:bodyPr wrap="square" rtlCol="0" anchor="ctr"/>
          <a:lstStyle/>
          <a:p>
            <a:pPr marL="0" indent="0" algn="ctr">
              <a:buNone/>
            </a:pPr>
            <a:r>
              <a:rPr lang="en-US" sz="1400" b="1" dirty="0">
                <a:solidFill>
                  <a:schemeClr val="accent2">
                    <a:lumMod val="75000"/>
                  </a:schemeClr>
                </a:solidFill>
                <a:latin typeface="Arial" pitchFamily="34" charset="0"/>
                <a:ea typeface="Arial" pitchFamily="34" charset="-122"/>
                <a:cs typeface="Arial" pitchFamily="34" charset="-120"/>
              </a:rPr>
              <a:t>Nguyễn Như Khiêm  •  K225480106030</a:t>
            </a:r>
            <a:endParaRPr lang="en-US" sz="1400" dirty="0">
              <a:solidFill>
                <a:schemeClr val="accent2">
                  <a:lumMod val="75000"/>
                </a:schemeClr>
              </a:solidFill>
            </a:endParaRPr>
          </a:p>
        </p:txBody>
      </p:sp>
      <p:sp>
        <p:nvSpPr>
          <p:cNvPr id="9" name="Text 7">
            <a:extLst>
              <a:ext uri="{FF2B5EF4-FFF2-40B4-BE49-F238E27FC236}">
                <a16:creationId xmlns:a16="http://schemas.microsoft.com/office/drawing/2014/main" id="{16A15D1D-EF7C-C4F5-6FB9-C43333BA209B}"/>
              </a:ext>
            </a:extLst>
          </p:cNvPr>
          <p:cNvSpPr/>
          <p:nvPr/>
        </p:nvSpPr>
        <p:spPr>
          <a:xfrm>
            <a:off x="920496" y="4288536"/>
            <a:ext cx="7315200" cy="347472"/>
          </a:xfrm>
          <a:prstGeom prst="rect">
            <a:avLst/>
          </a:prstGeom>
          <a:noFill/>
          <a:ln/>
        </p:spPr>
        <p:txBody>
          <a:bodyPr wrap="square" rtlCol="0" anchor="ctr"/>
          <a:lstStyle/>
          <a:p>
            <a:pPr marL="0" indent="0" algn="ctr">
              <a:buNone/>
            </a:pPr>
            <a:r>
              <a:rPr lang="en-US" sz="1200" dirty="0">
                <a:solidFill>
                  <a:srgbClr val="0070C0"/>
                </a:solidFill>
                <a:latin typeface="Arial" pitchFamily="34" charset="0"/>
                <a:ea typeface="Arial" pitchFamily="34" charset="-122"/>
                <a:cs typeface="Arial" pitchFamily="34" charset="-120"/>
              </a:rPr>
              <a:t>Môn: Khoa Học Dữ Liệu  •  GVHD: TS. Nguyễn Văn Huy</a:t>
            </a:r>
            <a:endParaRPr lang="en-US" sz="1200" dirty="0">
              <a:solidFill>
                <a:srgbClr val="0070C0"/>
              </a:solidFill>
            </a:endParaRPr>
          </a:p>
        </p:txBody>
      </p:sp>
    </p:spTree>
    <p:extLst>
      <p:ext uri="{BB962C8B-B14F-4D97-AF65-F5344CB8AC3E}">
        <p14:creationId xmlns:p14="http://schemas.microsoft.com/office/powerpoint/2010/main" val="29744351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346</TotalTime>
  <Words>1610</Words>
  <Application>Microsoft Office PowerPoint</Application>
  <PresentationFormat>Trình chiếu Trên màn hình (16:9)</PresentationFormat>
  <Paragraphs>205</Paragraphs>
  <Slides>15</Slides>
  <Notes>15</Notes>
  <HiddenSlides>0</HiddenSlides>
  <MMClips>0</MMClips>
  <ScaleCrop>false</ScaleCrop>
  <HeadingPairs>
    <vt:vector size="6" baseType="variant">
      <vt:variant>
        <vt:lpstr>Phông được Dùng</vt:lpstr>
      </vt:variant>
      <vt:variant>
        <vt:i4>2</vt:i4>
      </vt:variant>
      <vt:variant>
        <vt:lpstr>Chủ đề</vt:lpstr>
      </vt:variant>
      <vt:variant>
        <vt:i4>1</vt:i4>
      </vt:variant>
      <vt:variant>
        <vt:lpstr>Tiêu đề Bản chiếu</vt:lpstr>
      </vt:variant>
      <vt:variant>
        <vt:i4>15</vt:i4>
      </vt:variant>
    </vt:vector>
  </HeadingPairs>
  <TitlesOfParts>
    <vt:vector size="18" baseType="lpstr">
      <vt:lpstr>Arial</vt:lpstr>
      <vt:lpstr>Calibri</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Phan tich xu huong thi truong tro choi dien tu</dc:title>
  <dc:subject>PptxGenJS Presentation</dc:subject>
  <dc:creator>Nguyen Nhu Khiem</dc:creator>
  <cp:lastModifiedBy>Khiêm Nguyễn Như</cp:lastModifiedBy>
  <cp:revision>37</cp:revision>
  <dcterms:created xsi:type="dcterms:W3CDTF">2026-06-16T18:39:15Z</dcterms:created>
  <dcterms:modified xsi:type="dcterms:W3CDTF">2026-06-20T16:43:08Z</dcterms:modified>
</cp:coreProperties>
</file>